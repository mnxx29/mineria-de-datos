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Minería de Datos - Evaluación Parcial 3</a:t>
            </a:r>
          </a:p>
          <a:p>
            <a:pPr algn="ctr">
              <a:defRPr sz="2000">
                <a:solidFill>
                  <a:srgbClr val="C8D2E6"/>
                </a:solidFill>
                <a:latin typeface="Arial"/>
              </a:defRPr>
            </a:pPr>
            <a:r>
              <a:t>Etapa 2: Implementación, Análisis de Resultados y Defensa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0"/>
              </a:spcAft>
              <a:defRPr sz="2400" b="1">
                <a:solidFill>
                  <a:srgbClr val="46505F"/>
                </a:solidFill>
                <a:latin typeface="Arial"/>
              </a:defRPr>
            </a:pPr>
            <a:r>
              <a:t>Caso de Estudio: Predicción de Fuga de Clientes (Churn) en Telecomunicaciones</a:t>
            </a:r>
          </a:p>
          <a:p>
            <a:pPr algn="ctr">
              <a:lnSpc>
                <a:spcPct val="130000"/>
              </a:lnSpc>
              <a:defRPr sz="1600">
                <a:solidFill>
                  <a:srgbClr val="1E1E1E"/>
                </a:solidFill>
                <a:latin typeface="Arial"/>
              </a:defRPr>
            </a:pPr>
            <a:r>
              <a:t>Estudiante: Germán Aravena</a:t>
            </a:r>
            <a:br/>
            <a:r>
              <a:t>Profesor: Pablo Silva</a:t>
            </a:r>
            <a:br/>
            <a:r>
              <a:t>Universidad de los Lagos</a:t>
            </a:r>
            <a:br/>
            <a:r>
              <a:t>Fecha de entrega: 15 de julio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t>Comprensión del Negocio (Business Understanding)</a:t>
            </a:r>
          </a:p>
          <a:p>
            <a:pPr>
              <a:spcAft>
                <a:spcPts val="2000"/>
              </a:spcAft>
              <a:defRPr sz="1000" b="1">
                <a:solidFill>
                  <a:srgbClr val="46505F"/>
                </a:solidFill>
                <a:latin typeface="Arial"/>
              </a:defRPr>
            </a:pPr>
            <a:r>
              <a:t>1. INTRODUCCIÓN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46505F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6505F"/>
                </a:solidFill>
              </a:defRPr>
            </a:pPr>
            <a:r>
              <a:t>El Desafío del Churn (Fuga de Clientes)</a:t>
            </a:r>
          </a:p>
          <a:p>
            <a:pPr>
              <a:spcAft>
                <a:spcPts val="1000"/>
              </a:spcAft>
              <a:defRPr sz="1400"/>
            </a:pPr>
            <a:r>
              <a:t>• Impacto financiero directo: La deserción de clientes reduce los ingresos recurrentes y eleva los costos operativos.</a:t>
            </a:r>
          </a:p>
          <a:p>
            <a:pPr>
              <a:spcAft>
                <a:spcPts val="1000"/>
              </a:spcAft>
              <a:defRPr sz="1400"/>
            </a:pPr>
            <a:r>
              <a:t>• Costo de adquisición: Atraer un nuevo cliente cuesta de 5 a 7 veces más que mantener a uno existente.</a:t>
            </a:r>
          </a:p>
          <a:p>
            <a:pPr>
              <a:defRPr sz="1400"/>
            </a:pPr>
            <a:r>
              <a:t>• Retención proactiva: El objetivo es anticiparse a la deserción identificando patrones contractuales y de comportamiento.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6505F"/>
                </a:solidFill>
              </a:defRPr>
            </a:pPr>
            <a:r>
              <a:t>Objetivos Estratégicos</a:t>
            </a:r>
          </a:p>
          <a:p>
            <a:pPr>
              <a:spcAft>
                <a:spcPts val="1000"/>
              </a:spcAft>
              <a:defRPr sz="1400"/>
            </a:pPr>
            <a:r>
              <a:t>1. Reducir la tasa de Churn mediante alertas tempranas generadas por minería de datos.</a:t>
            </a:r>
          </a:p>
          <a:p>
            <a:pPr>
              <a:spcAft>
                <a:spcPts val="1000"/>
              </a:spcAft>
              <a:defRPr sz="1400"/>
            </a:pPr>
            <a:r>
              <a:t>2. Identificar variables críticas asociadas con la fuga (contratos, servicios adicionales, montos).</a:t>
            </a:r>
          </a:p>
          <a:p>
            <a:pPr>
              <a:defRPr sz="1400"/>
            </a:pPr>
            <a:r>
              <a:t>3. Validar hipótesis de negocio y optimizar la inversión de retención para maximizar el ROI.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t>Comprensión de los Datos (Data Understanding)</a:t>
            </a:r>
          </a:p>
          <a:p>
            <a:pPr>
              <a:spcAft>
                <a:spcPts val="2000"/>
              </a:spcAft>
              <a:defRPr sz="1000" b="1">
                <a:solidFill>
                  <a:srgbClr val="46505F"/>
                </a:solidFill>
                <a:latin typeface="Arial"/>
              </a:defRPr>
            </a:pPr>
            <a:r>
              <a:t>2. DATOS &amp; CALIDAD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46505F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6505F"/>
                </a:solidFill>
              </a:defRPr>
            </a:pPr>
            <a:r>
              <a:t>Estructura del Conjunto de Datos</a:t>
            </a:r>
          </a:p>
          <a:p>
            <a:pPr>
              <a:spcAft>
                <a:spcPts val="1000"/>
              </a:spcAft>
              <a:defRPr sz="1400"/>
            </a:pPr>
            <a:r>
              <a:t>• Muestra: 7,043 registros de clientes de telecomunicaciones en California.</a:t>
            </a:r>
          </a:p>
          <a:p>
            <a:pPr>
              <a:spcAft>
                <a:spcPts val="1000"/>
              </a:spcAft>
              <a:defRPr sz="1400"/>
            </a:pPr>
            <a:r>
              <a:t>• Variables: Información demográfica, servicios contratados (internet, telefonía), tipo de contrato, facturación y la variable objetivo 'Churn'.</a:t>
            </a:r>
          </a:p>
          <a:p>
            <a:pPr>
              <a:defRPr sz="1400"/>
            </a:pPr>
            <a:r>
              <a:t>• Variable Objetivo Desbalanceada: ~26.5% de fuga (Churn = Yes) vs ~73.5% de permanencia (Churn = No).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6505F"/>
                </a:solidFill>
              </a:defRPr>
            </a:pPr>
            <a:r>
              <a:t>Calidad de Datos e Inspección de Outliers</a:t>
            </a:r>
          </a:p>
          <a:p>
            <a:pPr>
              <a:spcAft>
                <a:spcPts val="1000"/>
              </a:spcAft>
              <a:defRPr sz="1400"/>
            </a:pPr>
            <a:r>
              <a:t>• Tratamiento de Nulos: Se detectaron 11 nulos en 'TotalCharges' (antigüedad = 0) que se eliminaron de forma segura.</a:t>
            </a:r>
          </a:p>
          <a:p>
            <a:pPr>
              <a:spcAft>
                <a:spcPts val="1000"/>
              </a:spcAft>
              <a:defRPr sz="1400"/>
            </a:pPr>
            <a:r>
              <a:t>• Limpieza de Ruido: Eliminación de 'customerID' al no poseer valor predictivo.</a:t>
            </a:r>
          </a:p>
          <a:p>
            <a:pPr>
              <a:defRPr sz="1400"/>
            </a:pPr>
            <a:r>
              <a:t>• Justificación de Outliers (IQR): El método de rango intercuartílico confirmó 0 outliers en tenure, MonthlyCharges y TotalCharges. Todos los valores representan rangos lógicos del negocio, por lo que se conservaron.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t>Preparación y Balanceo de Datos (Data Preparation)</a:t>
            </a:r>
          </a:p>
          <a:p>
            <a:pPr>
              <a:spcAft>
                <a:spcPts val="2000"/>
              </a:spcAft>
              <a:defRPr sz="1000" b="1">
                <a:solidFill>
                  <a:srgbClr val="46505F"/>
                </a:solidFill>
                <a:latin typeface="Arial"/>
              </a:defRPr>
            </a:pPr>
            <a:r>
              <a:t>3. PREPROCESAMIENTO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46505F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6505F"/>
                </a:solidFill>
              </a:defRPr>
            </a:pPr>
            <a:r>
              <a:t>Ingeniería de Variables (Transformación)</a:t>
            </a:r>
          </a:p>
          <a:p>
            <a:pPr>
              <a:spcAft>
                <a:spcPts val="1000"/>
              </a:spcAft>
              <a:defRPr sz="1400"/>
            </a:pPr>
            <a:r>
              <a:t>• Codificación: Se aplicó Label Encoding a las variables binarias y One-Hot Encoding a las variables multicategóricas.</a:t>
            </a:r>
          </a:p>
          <a:p>
            <a:pPr>
              <a:spcAft>
                <a:spcPts val="1000"/>
              </a:spcAft>
              <a:defRPr sz="1400"/>
            </a:pPr>
            <a:r>
              <a:t>• Estandarización: Aplicación de StandardScaler a variables numéricas cuantitativas para normalizar las escalas antes de Regresión Logística.</a:t>
            </a:r>
          </a:p>
          <a:p>
            <a:pPr>
              <a:defRPr sz="1400"/>
            </a:pPr>
            <a:r>
              <a:t>• Discretización para Apriori: Transformación de variables continuas (tenure, cargos mensuales y anuales) a rangos categóricos (Bajo, Medio, Alto) para posibilitar el formato binario requerido.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6505F"/>
                </a:solidFill>
              </a:defRPr>
            </a:pPr>
            <a:r>
              <a:t>Manejo del Desbalance con SMOTE</a:t>
            </a:r>
          </a:p>
          <a:p>
            <a:pPr>
              <a:spcAft>
                <a:spcPts val="1000"/>
              </a:spcAft>
              <a:defRPr sz="1400"/>
            </a:pPr>
            <a:r>
              <a:t>• Problema de Sesgo: El desbalance natural sesga los modelos tradicionales a predecir siempre la clase mayoritaria (Leal).</a:t>
            </a:r>
          </a:p>
          <a:p>
            <a:pPr>
              <a:spcAft>
                <a:spcPts val="1000"/>
              </a:spcAft>
              <a:defRPr sz="1400"/>
            </a:pPr>
            <a:r>
              <a:t>• Técnica Aplicada: Sobremuestreo sintético (SMOTE) para generar registros de fuga artificiales equilibrando la muestra.</a:t>
            </a:r>
          </a:p>
          <a:p>
            <a:pPr>
              <a:defRPr sz="1400" b="1"/>
            </a:pPr>
            <a:r>
              <a:t>• Resultado de Entrenamiento:</a:t>
            </a:r>
            <a:br/>
            <a:r>
              <a:t>  - Clase Leal (0): 4,130 registros</a:t>
            </a:r>
            <a:br/>
            <a:r>
              <a:t>  - Clase Fuga (1): 4,130 registros (balanceada)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t>Modelado Supervisado: Clasificación y Métricas</a:t>
            </a:r>
          </a:p>
          <a:p>
            <a:pPr>
              <a:spcAft>
                <a:spcPts val="2000"/>
              </a:spcAft>
              <a:defRPr sz="1000" b="1">
                <a:solidFill>
                  <a:srgbClr val="46505F"/>
                </a:solidFill>
                <a:latin typeface="Arial"/>
              </a:defRPr>
            </a:pPr>
            <a:r>
              <a:t>4. MODELADO SUPERVISADO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46505F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Se entrenaron y compararon dos algoritmos clave para diagnosticar Overfitting/Underfitting: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6505F"/>
                </a:solidFill>
              </a:defRPr>
            </a:pPr>
            <a:r>
              <a:t>Resultados Comparativos (Train vs Test)</a:t>
            </a:r>
          </a:p>
          <a:p>
            <a:pPr>
              <a:defRPr sz="1200">
                <a:latin typeface="Courier New"/>
              </a:defRPr>
            </a:pPr>
            <a:r>
              <a:t>Métrica       |  Regresión Logística   |    Random Forest</a:t>
            </a:r>
          </a:p>
          <a:p>
            <a:pPr>
              <a:defRPr sz="1200">
                <a:latin typeface="Courier New"/>
              </a:defRPr>
            </a:pPr>
            <a:r>
              <a:t>--------------|------------------------|--------------------</a:t>
            </a:r>
          </a:p>
          <a:p>
            <a:pPr>
              <a:defRPr sz="1200">
                <a:latin typeface="Courier New"/>
              </a:defRPr>
            </a:pPr>
            <a:r>
              <a:t>Acc. Train    |        78.51%          |       99.88%</a:t>
            </a:r>
          </a:p>
          <a:p>
            <a:pPr>
              <a:defRPr sz="1200">
                <a:latin typeface="Courier New"/>
              </a:defRPr>
            </a:pPr>
            <a:r>
              <a:t>Acc. Test     |        75.91%          |       76.19%</a:t>
            </a:r>
          </a:p>
          <a:p>
            <a:pPr>
              <a:defRPr sz="1200" b="1">
                <a:solidFill>
                  <a:srgbClr val="C23B22"/>
                </a:solidFill>
                <a:latin typeface="Courier New"/>
              </a:defRPr>
            </a:pPr>
            <a:r>
              <a:t>Diferencia    |       -2.60%           |      -23.69%  (Overfit)</a:t>
            </a:r>
          </a:p>
          <a:p>
            <a:pPr>
              <a:defRPr sz="1200">
                <a:latin typeface="Courier New"/>
              </a:defRPr>
            </a:pPr>
            <a:r>
              <a:t>--------------|------------------------|--------------------</a:t>
            </a:r>
          </a:p>
          <a:p>
            <a:pPr>
              <a:defRPr sz="1200">
                <a:latin typeface="Courier New"/>
              </a:defRPr>
            </a:pPr>
            <a:r>
              <a:t>Recall Train  |        70.57%          |       99.80%</a:t>
            </a:r>
          </a:p>
          <a:p>
            <a:pPr>
              <a:defRPr sz="1200">
                <a:latin typeface="Courier New"/>
              </a:defRPr>
            </a:pPr>
            <a:r>
              <a:t>Recall Test   |        69.25%          |       60.70%</a:t>
            </a:r>
          </a:p>
          <a:p>
            <a:pPr>
              <a:defRPr sz="1200" b="1">
                <a:solidFill>
                  <a:srgbClr val="C23B22"/>
                </a:solidFill>
                <a:latin typeface="Courier New"/>
              </a:defRPr>
            </a:pPr>
            <a:r>
              <a:t>Diferencia    |       -1.32%           |      -39.10%  (Overfit)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46505F"/>
                </a:solidFill>
              </a:defRPr>
            </a:pPr>
            <a:r>
              <a:t>Diagnóstico Técnico</a:t>
            </a:r>
          </a:p>
          <a:p>
            <a:pPr>
              <a:spcAft>
                <a:spcPts val="1000"/>
              </a:spcAft>
              <a:defRPr sz="1300"/>
            </a:pPr>
            <a:r>
              <a:t>• Random Forest sufre de Overfitting Severo: Memoriza el set de entrenamiento (99.8% Accuracy) pero su capacidad de capturar fugas reales (Recall) se reduce un 39% al pasar a datos nuevos (Test).</a:t>
            </a:r>
          </a:p>
          <a:p>
            <a:pPr>
              <a:spcAft>
                <a:spcPts val="1000"/>
              </a:spcAft>
              <a:defRPr sz="1300"/>
            </a:pPr>
            <a:r>
              <a:t>• Regresión Logística es Robusta: Muestra estabilidad entre Train y Test. Su Recall en el conjunto de prueba es de 69.25%, lo que significa que detecta de manera consistente a 7 de cada 10 clientes propensos a la deserción.</a:t>
            </a:r>
          </a:p>
          <a:p>
            <a:pPr>
              <a:defRPr sz="1500" b="1">
                <a:solidFill>
                  <a:srgbClr val="0C2340"/>
                </a:solidFill>
              </a:defRPr>
            </a:pPr>
            <a:r>
              <a:t>Modelo de Elección: Regresión Logística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t>Validación de Hipótesis 1 (Modelo Supervisado)</a:t>
            </a:r>
          </a:p>
          <a:p>
            <a:pPr>
              <a:spcAft>
                <a:spcPts val="2000"/>
              </a:spcAft>
              <a:defRPr sz="1000" b="1">
                <a:solidFill>
                  <a:srgbClr val="46505F"/>
                </a:solidFill>
                <a:latin typeface="Arial"/>
              </a:defRPr>
            </a:pPr>
            <a:r>
              <a:t>5. HIPÓTESIS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46505F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6505F"/>
                </a:solidFill>
              </a:defRPr>
            </a:pPr>
            <a:r>
              <a:t>Hipótesis 1 (H1)</a:t>
            </a:r>
          </a:p>
          <a:p>
            <a:pPr>
              <a:spcAft>
                <a:spcPts val="1500"/>
              </a:spcAft>
              <a:defRPr sz="1400" i="1"/>
            </a:pPr>
            <a:r>
              <a:t>H1: Los clientes con contrato de tipo 'Month-to-month' y servicio de internet 'Fiber optic' presentan una probabilidad significativamente mayor de abandonar la empresa.</a:t>
            </a:r>
          </a:p>
          <a:p>
            <a:pPr>
              <a:spcAft>
                <a:spcPts val="1500"/>
              </a:spcAft>
              <a:defRPr sz="1600" b="1">
                <a:solidFill>
                  <a:srgbClr val="288C50"/>
                </a:solidFill>
              </a:defRPr>
            </a:pPr>
            <a:r>
              <a:t>Estado de Validación: VALIDADA</a:t>
            </a:r>
          </a:p>
          <a:p>
            <a:pPr>
              <a:defRPr sz="1300"/>
            </a:pPr>
            <a:r>
              <a:t>• Ambas variables registraron coeficientes altamente positivos en el modelo de Regresión Logística.</a:t>
            </a:r>
            <a:br/>
            <a:r>
              <a:t>• Esto significa que tener un contrato mes a mes y contar con fibra óptica incrementa fuertemente las probabilidades (log-odds) de deserción.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6505F"/>
                </a:solidFill>
              </a:defRPr>
            </a:pPr>
            <a:r>
              <a:t>Coeficientes Clave de la Regresión Logística</a:t>
            </a:r>
          </a:p>
          <a:p>
            <a:pPr>
              <a:spcAft>
                <a:spcPts val="600"/>
              </a:spcAft>
              <a:defRPr sz="1300"/>
            </a:pPr>
            <a:r>
              <a:t>1. PaymentMethod_Electronic check: Coef = +3.69</a:t>
            </a:r>
          </a:p>
          <a:p>
            <a:pPr>
              <a:spcAft>
                <a:spcPts val="600"/>
              </a:spcAft>
              <a:defRPr sz="1300" b="1">
                <a:solidFill>
                  <a:srgbClr val="0C2340"/>
                </a:solidFill>
              </a:defRPr>
            </a:pPr>
            <a:r>
              <a:t>2. Contract_Month-to-month: Coef = +3.55  (H1 Validada)</a:t>
            </a:r>
          </a:p>
          <a:p>
            <a:pPr>
              <a:spcAft>
                <a:spcPts val="600"/>
              </a:spcAft>
              <a:defRPr sz="1300"/>
            </a:pPr>
            <a:r>
              <a:t>3. MultipleLines_Yes: Coef = +3.30</a:t>
            </a:r>
          </a:p>
          <a:p>
            <a:pPr>
              <a:spcAft>
                <a:spcPts val="600"/>
              </a:spcAft>
              <a:defRPr sz="1300"/>
            </a:pPr>
            <a:r>
              <a:t>4. PaymentMethod_Mailed check: Coef = +3.18</a:t>
            </a:r>
          </a:p>
          <a:p>
            <a:pPr>
              <a:spcAft>
                <a:spcPts val="600"/>
              </a:spcAft>
              <a:defRPr sz="1300"/>
            </a:pPr>
            <a:r>
              <a:t>5. TechSupport_No: Coef = +2.91</a:t>
            </a:r>
          </a:p>
          <a:p>
            <a:pPr>
              <a:spcAft>
                <a:spcPts val="600"/>
              </a:spcAft>
              <a:defRPr sz="1300"/>
            </a:pPr>
            <a:r>
              <a:t>6. OnlineSecurity_No: Coef = +2.87</a:t>
            </a:r>
          </a:p>
          <a:p>
            <a:pPr>
              <a:spcAft>
                <a:spcPts val="600"/>
              </a:spcAft>
              <a:defRPr sz="1300" b="1">
                <a:solidFill>
                  <a:srgbClr val="0C2340"/>
                </a:solidFill>
              </a:defRPr>
            </a:pPr>
            <a:r>
              <a:t>7. InternetService_Fiber optic: Coef = +2.72 (H1 Validada)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t>Modelado No Supervisado: Reglas de Asociación (Apriori)</a:t>
            </a:r>
          </a:p>
          <a:p>
            <a:pPr>
              <a:spcAft>
                <a:spcPts val="2000"/>
              </a:spcAft>
              <a:defRPr sz="1000" b="1">
                <a:solidFill>
                  <a:srgbClr val="46505F"/>
                </a:solidFill>
                <a:latin typeface="Arial"/>
              </a:defRPr>
            </a:pPr>
            <a:r>
              <a:t>6. MODELADO NO SUPERVISADO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46505F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6505F"/>
                </a:solidFill>
              </a:defRPr>
            </a:pPr>
            <a:r>
              <a:t>Metodología y Parámetros del Algoritmo</a:t>
            </a:r>
          </a:p>
          <a:p>
            <a:pPr>
              <a:spcAft>
                <a:spcPts val="1000"/>
              </a:spcAft>
              <a:defRPr sz="1400"/>
            </a:pPr>
            <a:r>
              <a:t>• Formato Transaccional: 54 variables dummy booleanas (True/False).</a:t>
            </a:r>
          </a:p>
          <a:p>
            <a:pPr>
              <a:spcAft>
                <a:spcPts val="1000"/>
              </a:spcAft>
              <a:defRPr sz="1400"/>
            </a:pPr>
            <a:r>
              <a:t>• Control de Desempeño: Se configuró un soporte mínimo (min_support) de 0.12 (12%) para evitar el consumo crítico de RAM (evitando la generación de 15 millones de reglas innecesarias).</a:t>
            </a:r>
          </a:p>
          <a:p>
            <a:pPr>
              <a:defRPr sz="1400"/>
            </a:pPr>
            <a:r>
              <a:t>• Reglas Generadas: Se identificaron 2,583 reglas asociadas a la fuga (Churn_Yes) utilizando un umbral de Lift &gt; 1.2.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6505F"/>
                </a:solidFill>
              </a:defRPr>
            </a:pPr>
            <a:r>
              <a:t>Valor Estratégico de Apriori</a:t>
            </a:r>
          </a:p>
          <a:p>
            <a:pPr>
              <a:spcAft>
                <a:spcPts val="1000"/>
              </a:spcAft>
              <a:defRPr sz="1400"/>
            </a:pPr>
            <a:r>
              <a:t>• Perfiles Compuestos: Permite identificar combinaciones simultáneas de características de comportamiento que gatillan la fuga.</a:t>
            </a:r>
          </a:p>
          <a:p>
            <a:pPr>
              <a:spcAft>
                <a:spcPts val="1000"/>
              </a:spcAft>
              <a:defRPr sz="1400"/>
            </a:pPr>
            <a:r>
              <a:t>• Alta Interpretabilidad: Las reglas del tipo 'Si ocurre A y B -&gt; ocurre C' facilitan que los equipos de marketing y ventas las entiendan directamente sin conocimientos estadísticos.</a:t>
            </a:r>
          </a:p>
          <a:p>
            <a:pPr>
              <a:defRPr sz="1400"/>
            </a:pPr>
            <a:r>
              <a:t>• Complementariedad: Valida los coeficientes de la Regresión Logística mediante relaciones de co-ocurrencia.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t>Validación de Hipótesis 2 (Modelo No Supervisado)</a:t>
            </a:r>
          </a:p>
          <a:p>
            <a:pPr>
              <a:spcAft>
                <a:spcPts val="2000"/>
              </a:spcAft>
              <a:defRPr sz="1000" b="1">
                <a:solidFill>
                  <a:srgbClr val="46505F"/>
                </a:solidFill>
                <a:latin typeface="Arial"/>
              </a:defRPr>
            </a:pPr>
            <a:r>
              <a:t>7. HIPÓTESIS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46505F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6505F"/>
                </a:solidFill>
              </a:defRPr>
            </a:pPr>
            <a:r>
              <a:t>Hipótesis 2 (H2)</a:t>
            </a:r>
          </a:p>
          <a:p>
            <a:pPr>
              <a:spcAft>
                <a:spcPts val="1500"/>
              </a:spcAft>
              <a:defRPr sz="1400" i="1"/>
            </a:pPr>
            <a:r>
              <a:t>H2: Los clientes que contratan servicio de internet pero optan por no adquirir asistencia y protección (soporte técnico o seguridad en línea) tienden a asociarse fuertemente con la fuga de clientes.</a:t>
            </a:r>
          </a:p>
          <a:p>
            <a:pPr>
              <a:spcAft>
                <a:spcPts val="1500"/>
              </a:spcAft>
              <a:defRPr sz="1600" b="1">
                <a:solidFill>
                  <a:srgbClr val="288C50"/>
                </a:solidFill>
              </a:defRPr>
            </a:pPr>
            <a:r>
              <a:t>Estado de Validación: VALIDADA</a:t>
            </a:r>
          </a:p>
          <a:p>
            <a:pPr>
              <a:defRPr sz="1300"/>
            </a:pPr>
            <a:r>
              <a:t>• El algoritmo Apriori encontró reglas de gran fortaleza que asocian la ausencia de soporte técnico y seguridad en línea de clientes con Churn_Yes, particularmente en fibra óptica.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6505F"/>
                </a:solidFill>
              </a:defRPr>
            </a:pPr>
            <a:r>
              <a:t>Regla de Asociación Más Fuerte (H2)</a:t>
            </a:r>
          </a:p>
          <a:p>
            <a:pPr>
              <a:spcAft>
                <a:spcPts val="1500"/>
              </a:spcAft>
              <a:defRPr sz="1400" b="1">
                <a:solidFill>
                  <a:srgbClr val="0C2340"/>
                </a:solidFill>
              </a:defRPr>
            </a:pPr>
            <a:r>
              <a:t>{Contract_Month-to-month, OnlineSecurity_No,</a:t>
            </a:r>
            <a:br/>
            <a:r>
              <a:t> TechSupport_No, InternetService_Fiber optic}</a:t>
            </a:r>
            <a:br/>
            <a:br/>
            <a:r>
              <a:t> ---&gt;  {Churn_Yes}</a:t>
            </a:r>
          </a:p>
          <a:p>
            <a:pPr>
              <a:lnSpc>
                <a:spcPct val="130000"/>
              </a:lnSpc>
              <a:defRPr sz="1400"/>
            </a:pPr>
            <a:r>
              <a:t>Métricas de la Regla:</a:t>
            </a:r>
            <a:br/>
            <a:r>
              <a:t>  • Soporte: 12.16% (Ocurrencia frecuente en la muestra)</a:t>
            </a:r>
            <a:br/>
            <a:r>
              <a:t>  • Confianza: 60.13% (60% de probabilidad de deserción)</a:t>
            </a:r>
            <a:br/>
            <a:r>
              <a:t>  • Lift: 3.26 (Tienen 3.2 veces más riesgo que la media)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t>Análisis de Costo-Beneficio Financiero</a:t>
            </a:r>
          </a:p>
          <a:p>
            <a:pPr>
              <a:spcAft>
                <a:spcPts val="2000"/>
              </a:spcAft>
              <a:defRPr sz="1000" b="1">
                <a:solidFill>
                  <a:srgbClr val="46505F"/>
                </a:solidFill>
                <a:latin typeface="Arial"/>
              </a:defRPr>
            </a:pPr>
            <a:r>
              <a:t>8. IMPACTO ECONÓMICO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46505F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6505F"/>
                </a:solidFill>
              </a:defRPr>
            </a:pPr>
            <a:r>
              <a:t>Premisas Económicas del Negocio</a:t>
            </a:r>
          </a:p>
          <a:p>
            <a:pPr>
              <a:spcAft>
                <a:spcPts val="1000"/>
              </a:spcAft>
              <a:defRPr sz="1400"/>
            </a:pPr>
            <a:r>
              <a:t>• Costo de Fuga por Cliente: $100 USD (Costo asociado a pérdida de ingresos recurrentes, costo administrativo y de desactivación).</a:t>
            </a:r>
          </a:p>
          <a:p>
            <a:pPr>
              <a:spcAft>
                <a:spcPts val="1000"/>
              </a:spcAft>
              <a:defRPr sz="1400"/>
            </a:pPr>
            <a:r>
              <a:t>• Costo de Retención por Cliente: $10 USD (Incentivos, descuentos especiales en la tarifa o beneficios en servicios adicionales).</a:t>
            </a:r>
          </a:p>
          <a:p>
            <a:pPr>
              <a:defRPr sz="1400"/>
            </a:pPr>
            <a:r>
              <a:t>• Ratio de Ahorro: Por cada cliente retenido con éxito, la empresa ahorra un neto de $90 USD ($100 de pérdida evitada - $10 invertidos).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6505F"/>
                </a:solidFill>
              </a:defRPr>
            </a:pPr>
            <a:r>
              <a:t>Ahorros Calculados con el Modelo</a:t>
            </a:r>
          </a:p>
          <a:p>
            <a:pPr>
              <a:spcAft>
                <a:spcPts val="800"/>
              </a:spcAft>
              <a:defRPr sz="1300"/>
            </a:pPr>
            <a:r>
              <a:t>• Costo de Pérdidas Sin Modelo (Prueba): $37,400.00 USD</a:t>
            </a:r>
          </a:p>
          <a:p>
            <a:pPr>
              <a:spcAft>
                <a:spcPts val="800"/>
              </a:spcAft>
              <a:defRPr sz="1300"/>
            </a:pPr>
            <a:r>
              <a:t>• Costo Con Modelo (Campaña + FN): $16,330.00 USD</a:t>
            </a:r>
          </a:p>
          <a:p>
            <a:pPr>
              <a:spcAft>
                <a:spcPts val="1400"/>
              </a:spcAft>
              <a:defRPr sz="1400" b="1">
                <a:solidFill>
                  <a:srgbClr val="288C50"/>
                </a:solidFill>
              </a:defRPr>
            </a:pPr>
            <a:r>
              <a:t>• Ahorro Neto en Prueba: $21,070.00 USD (Reducción del 56.34%)</a:t>
            </a:r>
          </a:p>
          <a:p>
            <a:pPr>
              <a:defRPr sz="1600" b="1">
                <a:solidFill>
                  <a:srgbClr val="0C2340"/>
                </a:solidFill>
              </a:defRPr>
            </a:pPr>
            <a:r>
              <a:t>Ahorro Anual Proyectado (Toda la Base de Datos):</a:t>
            </a:r>
            <a:br/>
            <a:r>
              <a:t>$105,305.07 USD Netos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t>Propuestas Prácticas y Conclusión del Proyecto</a:t>
            </a:r>
          </a:p>
          <a:p>
            <a:pPr>
              <a:spcAft>
                <a:spcPts val="2000"/>
              </a:spcAft>
              <a:defRPr sz="1000" b="1">
                <a:solidFill>
                  <a:srgbClr val="46505F"/>
                </a:solidFill>
                <a:latin typeface="Arial"/>
              </a:defRPr>
            </a:pPr>
            <a:r>
              <a:t>9. RECOMENDACIONES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46505F"/>
          </a:solidFill>
          <a:ln>
            <a:solidFill>
              <a:srgbClr val="46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6505F"/>
                </a:solidFill>
              </a:defRPr>
            </a:pPr>
            <a:r>
              <a:t>3 Soluciones Estratégicas Ejecutables</a:t>
            </a:r>
          </a:p>
          <a:p>
            <a:pPr>
              <a:spcAft>
                <a:spcPts val="800"/>
              </a:spcAft>
              <a:defRPr sz="1200"/>
            </a:pPr>
            <a:r>
              <a:t>1. Migración de Contratos: Ofrecer 15% de descuento en el cargo mensual a usuarios 'Month-to-month' nuevos si migran a un contrato de permanencia anual.</a:t>
            </a:r>
          </a:p>
          <a:p>
            <a:pPr>
              <a:spcAft>
                <a:spcPts val="800"/>
              </a:spcAft>
              <a:defRPr sz="1200"/>
            </a:pPr>
            <a:r>
              <a:t>2. Paquetes de Soporte y Ciberseguridad: Incorporar seguridad informática y soporte de forma gratuita por 6 meses a clientes de fibra óptica mes a mes que no los tengan.</a:t>
            </a:r>
          </a:p>
          <a:p>
            <a:pPr>
              <a:defRPr sz="1200"/>
            </a:pPr>
            <a:r>
              <a:t>3. Programa de Fidelización en Pago Automático: Dar abono único de $10 USD si el cliente cambia su método de pago de cheque electrónico a pago automático.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46505F"/>
                </a:solidFill>
              </a:defRPr>
            </a:pPr>
            <a:r>
              <a:t>Conclusiones Finales</a:t>
            </a:r>
          </a:p>
          <a:p>
            <a:pPr>
              <a:spcAft>
                <a:spcPts val="800"/>
              </a:spcAft>
              <a:defRPr sz="1300"/>
            </a:pPr>
            <a:r>
              <a:t>• Viabilidad Metodológica: CRISP-DM estructuró de manera exitosa el flujo, desde el entendimiento de negocio hasta el modelado práctico.</a:t>
            </a:r>
          </a:p>
          <a:p>
            <a:pPr>
              <a:spcAft>
                <a:spcPts val="800"/>
              </a:spcAft>
              <a:defRPr sz="1300"/>
            </a:pPr>
            <a:r>
              <a:t>• Dualidad Predictiva/Descriptiva: Regresión Logística responde a 'quién tiene riesgo' y Apriori explica 'qué combinaciones causan el abandono', logrando sinergia.</a:t>
            </a:r>
          </a:p>
          <a:p>
            <a:pPr>
              <a:defRPr sz="1300"/>
            </a:pPr>
            <a:r>
              <a:t>• Aporte de Valor: Los modelos demuestran un retorno de inversión inmediato de más del 56% de reducción de pérdidas por fuga.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1547</Words>
  <Application>Microsoft Office PowerPoint</Application>
  <PresentationFormat>Personalizado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Germán Ignacio Guillermo Aravena Oñatt</cp:lastModifiedBy>
  <cp:revision>1</cp:revision>
  <dcterms:created xsi:type="dcterms:W3CDTF">2013-01-27T09:14:16Z</dcterms:created>
  <dcterms:modified xsi:type="dcterms:W3CDTF">2026-07-12T20:16:09Z</dcterms:modified>
  <cp:category/>
</cp:coreProperties>
</file>