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81" r:id="rId3"/>
    <p:sldId id="282" r:id="rId4"/>
    <p:sldId id="287" r:id="rId5"/>
    <p:sldId id="285" r:id="rId6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83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4" r:id="rId32"/>
    <p:sldId id="286" r:id="rId3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14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A9DB6D60-3F88-78DB-1A15-E493CF364AD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701"/>
          <a:stretch>
            <a:fillRect/>
          </a:stretch>
        </p:blipFill>
        <p:spPr>
          <a:xfrm>
            <a:off x="0" y="1435717"/>
            <a:ext cx="16256000" cy="770828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E431753-3975-0A7E-B9CD-85C5F39500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1" y="374651"/>
            <a:ext cx="2590800" cy="96621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BC6525C-531D-228A-9125-B67B0C971B0E}"/>
              </a:ext>
            </a:extLst>
          </p:cNvPr>
          <p:cNvSpPr txBox="1"/>
          <p:nvPr/>
        </p:nvSpPr>
        <p:spPr>
          <a:xfrm>
            <a:off x="2832102" y="5766714"/>
            <a:ext cx="62864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200" b="1" spc="-13" dirty="0" smtClean="0">
                <a:solidFill>
                  <a:schemeClr val="bg1"/>
                </a:solidFill>
              </a:rPr>
              <a:t>CIENCIA DE DATOS</a:t>
            </a:r>
          </a:p>
          <a:p>
            <a:r>
              <a:rPr lang="es-CL" sz="3200" b="1" spc="-13" dirty="0" smtClean="0">
                <a:solidFill>
                  <a:schemeClr val="bg1"/>
                </a:solidFill>
              </a:rPr>
              <a:t>IMPULSADA POR LA CURIOSIDAD</a:t>
            </a:r>
            <a:endParaRPr lang="es-CL" sz="3200" b="1" dirty="0">
              <a:solidFill>
                <a:schemeClr val="bg1"/>
              </a:solidFill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931EC933-35B2-DA69-A81F-68C7F3F551FF}"/>
              </a:ext>
            </a:extLst>
          </p:cNvPr>
          <p:cNvGrpSpPr/>
          <p:nvPr/>
        </p:nvGrpSpPr>
        <p:grpSpPr>
          <a:xfrm>
            <a:off x="0" y="0"/>
            <a:ext cx="13801419" cy="240000"/>
            <a:chOff x="1524000" y="6280030"/>
            <a:chExt cx="10351064" cy="180000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8AD8F31D-DD97-E178-E806-E31B45A14ADB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FAAEB192-904A-4D3D-BBEA-251B97597B13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62EB97BB-9C1D-EFD6-E715-4256D7F78CE0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</p:grp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A2F15324-F052-54DD-C9A8-D2C8195FADE0}"/>
              </a:ext>
            </a:extLst>
          </p:cNvPr>
          <p:cNvCxnSpPr/>
          <p:nvPr/>
        </p:nvCxnSpPr>
        <p:spPr>
          <a:xfrm>
            <a:off x="2679700" y="5397500"/>
            <a:ext cx="0" cy="20574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7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B4FFA-7EE7-B8FF-5379-6C3A824A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ACC792A-ABFD-F02B-6F02-25968A42D6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1" y="374651"/>
            <a:ext cx="2590800" cy="966216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1BBD25D-76A8-47C4-9808-AD4B10FE6B9D}"/>
              </a:ext>
            </a:extLst>
          </p:cNvPr>
          <p:cNvSpPr/>
          <p:nvPr/>
        </p:nvSpPr>
        <p:spPr>
          <a:xfrm>
            <a:off x="7128933" y="1340867"/>
            <a:ext cx="3403496" cy="6667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3733" b="1" dirty="0">
                <a:latin typeface="Arial Black" panose="020B0604020202020204" pitchFamily="34" charset="0"/>
                <a:cs typeface="Arial Black" panose="020B0604020202020204" pitchFamily="34" charset="0"/>
              </a:rPr>
              <a:t>CONTENIDO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0A6CE02-0C04-7C4A-E337-CFC522FA5DF2}"/>
              </a:ext>
            </a:extLst>
          </p:cNvPr>
          <p:cNvSpPr txBox="1">
            <a:spLocks/>
          </p:cNvSpPr>
          <p:nvPr/>
        </p:nvSpPr>
        <p:spPr>
          <a:xfrm>
            <a:off x="7260416" y="2571166"/>
            <a:ext cx="1422400" cy="5744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733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3CAC78E-5440-13CA-DC3B-7037165246C0}"/>
              </a:ext>
            </a:extLst>
          </p:cNvPr>
          <p:cNvSpPr txBox="1">
            <a:spLocks/>
          </p:cNvSpPr>
          <p:nvPr/>
        </p:nvSpPr>
        <p:spPr>
          <a:xfrm>
            <a:off x="7260415" y="4707303"/>
            <a:ext cx="6105463" cy="5744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733" dirty="0" smtClean="0"/>
              <a:t>EDA</a:t>
            </a:r>
            <a:endParaRPr lang="es-CL" sz="3733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BB9CE1A-B6E3-BE3F-BB90-7F7F6753083A}"/>
              </a:ext>
            </a:extLst>
          </p:cNvPr>
          <p:cNvSpPr txBox="1">
            <a:spLocks/>
          </p:cNvSpPr>
          <p:nvPr/>
        </p:nvSpPr>
        <p:spPr>
          <a:xfrm>
            <a:off x="7180232" y="4196608"/>
            <a:ext cx="1422400" cy="5744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733" dirty="0"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8DAD282-17D5-267A-DC8E-E740E6C370A8}"/>
              </a:ext>
            </a:extLst>
          </p:cNvPr>
          <p:cNvSpPr txBox="1">
            <a:spLocks/>
          </p:cNvSpPr>
          <p:nvPr/>
        </p:nvSpPr>
        <p:spPr>
          <a:xfrm>
            <a:off x="7260414" y="6908426"/>
            <a:ext cx="6105463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s-CL" sz="4000" dirty="0"/>
              <a:t>LA CURIOSIDAD Y LA CIENCA DE LOS DATOS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E85DE42-B8C9-140D-E74A-39EF96BAEDD4}"/>
              </a:ext>
            </a:extLst>
          </p:cNvPr>
          <p:cNvSpPr txBox="1">
            <a:spLocks/>
          </p:cNvSpPr>
          <p:nvPr/>
        </p:nvSpPr>
        <p:spPr>
          <a:xfrm>
            <a:off x="7180232" y="6247756"/>
            <a:ext cx="1422400" cy="5744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733" dirty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91B368D-99FF-464E-8631-479EB5242940}"/>
              </a:ext>
            </a:extLst>
          </p:cNvPr>
          <p:cNvSpPr txBox="1">
            <a:spLocks/>
          </p:cNvSpPr>
          <p:nvPr/>
        </p:nvSpPr>
        <p:spPr>
          <a:xfrm>
            <a:off x="7260417" y="3074220"/>
            <a:ext cx="6105463" cy="5744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733" dirty="0"/>
              <a:t>INTRODUCCION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A37C6D17-A626-BCEF-4DD2-55DC233389BF}"/>
              </a:ext>
            </a:extLst>
          </p:cNvPr>
          <p:cNvSpPr txBox="1">
            <a:spLocks/>
          </p:cNvSpPr>
          <p:nvPr/>
        </p:nvSpPr>
        <p:spPr>
          <a:xfrm>
            <a:off x="12683564" y="4899165"/>
            <a:ext cx="6305176" cy="5744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s-CL" sz="3733" dirty="0"/>
              <a:t>RESUMEN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0CF6ACCD-3EA3-CB30-89A8-C28E8ED3282B}"/>
              </a:ext>
            </a:extLst>
          </p:cNvPr>
          <p:cNvSpPr txBox="1">
            <a:spLocks/>
          </p:cNvSpPr>
          <p:nvPr/>
        </p:nvSpPr>
        <p:spPr>
          <a:xfrm>
            <a:off x="12683564" y="4324649"/>
            <a:ext cx="1422400" cy="5744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733" dirty="0"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515A3A8-E762-76CB-7B64-5E874C37876E}"/>
              </a:ext>
            </a:extLst>
          </p:cNvPr>
          <p:cNvGrpSpPr/>
          <p:nvPr/>
        </p:nvGrpSpPr>
        <p:grpSpPr>
          <a:xfrm>
            <a:off x="0" y="0"/>
            <a:ext cx="13801419" cy="240000"/>
            <a:chOff x="1524000" y="6280030"/>
            <a:chExt cx="10351064" cy="180000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B6B40A44-15C7-7942-35E7-EC48BA29C833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6464BAE6-238B-AC5E-C126-8907DBB04BEC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945DD13B-AE0B-F02B-BE87-3FD0E24D4F8E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</p:grpSp>
    </p:spTree>
    <p:extLst>
      <p:ext uri="{BB962C8B-B14F-4D97-AF65-F5344CB8AC3E}">
        <p14:creationId xmlns:p14="http://schemas.microsoft.com/office/powerpoint/2010/main" val="3714811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DADDE-A40E-DA70-CBA0-AA302167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8A452-A946-75C7-725F-9E0FB496C9DC}"/>
              </a:ext>
            </a:extLst>
          </p:cNvPr>
          <p:cNvSpPr txBox="1">
            <a:spLocks/>
          </p:cNvSpPr>
          <p:nvPr/>
        </p:nvSpPr>
        <p:spPr>
          <a:xfrm>
            <a:off x="1488000" y="7069668"/>
            <a:ext cx="13512800" cy="1354217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L" sz="8800" dirty="0" smtClean="0"/>
              <a:t>INTRODUCCIÓN</a:t>
            </a:r>
            <a:endParaRPr lang="es-CL" sz="88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14EA368D-45F4-6351-F16E-F4A717A39638}"/>
              </a:ext>
            </a:extLst>
          </p:cNvPr>
          <p:cNvSpPr txBox="1">
            <a:spLocks/>
          </p:cNvSpPr>
          <p:nvPr/>
        </p:nvSpPr>
        <p:spPr>
          <a:xfrm>
            <a:off x="12390641" y="5099896"/>
            <a:ext cx="2540000" cy="1969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12800" dirty="0" smtClean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  <a:endParaRPr lang="es-CL" sz="128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6A1A1B0-ACBC-1C39-BCA5-FA5196575208}"/>
              </a:ext>
            </a:extLst>
          </p:cNvPr>
          <p:cNvSpPr txBox="1"/>
          <p:nvPr/>
        </p:nvSpPr>
        <p:spPr>
          <a:xfrm>
            <a:off x="1028701" y="2019301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sz="2400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7FE65E34-2F41-61A3-D8D3-B728EE016146}"/>
              </a:ext>
            </a:extLst>
          </p:cNvPr>
          <p:cNvGrpSpPr/>
          <p:nvPr/>
        </p:nvGrpSpPr>
        <p:grpSpPr>
          <a:xfrm>
            <a:off x="0" y="0"/>
            <a:ext cx="13801419" cy="24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02D14F3-612A-5465-A52F-AD0D4C507A03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1C2FE712-26E6-7CCD-5B54-23AC22F4FDEA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0A5D1DDF-7E91-068D-813C-787789B37078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</p:grpSp>
    </p:spTree>
    <p:extLst>
      <p:ext uri="{BB962C8B-B14F-4D97-AF65-F5344CB8AC3E}">
        <p14:creationId xmlns:p14="http://schemas.microsoft.com/office/powerpoint/2010/main" val="3620344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DADDE-A40E-DA70-CBA0-AA302167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26A1A1B0-ACBC-1C39-BCA5-FA5196575208}"/>
              </a:ext>
            </a:extLst>
          </p:cNvPr>
          <p:cNvSpPr txBox="1"/>
          <p:nvPr/>
        </p:nvSpPr>
        <p:spPr>
          <a:xfrm>
            <a:off x="1028701" y="2019301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sz="2400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7FE65E34-2F41-61A3-D8D3-B728EE016146}"/>
              </a:ext>
            </a:extLst>
          </p:cNvPr>
          <p:cNvGrpSpPr/>
          <p:nvPr/>
        </p:nvGrpSpPr>
        <p:grpSpPr>
          <a:xfrm>
            <a:off x="0" y="0"/>
            <a:ext cx="13801419" cy="24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02D14F3-612A-5465-A52F-AD0D4C507A03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1C2FE712-26E6-7CCD-5B54-23AC22F4FDEA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0A5D1DDF-7E91-068D-813C-787789B37078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</p:grpSp>
      <p:sp>
        <p:nvSpPr>
          <p:cNvPr id="2" name="CuadroTexto 1"/>
          <p:cNvSpPr txBox="1"/>
          <p:nvPr/>
        </p:nvSpPr>
        <p:spPr>
          <a:xfrm>
            <a:off x="2366264" y="2895600"/>
            <a:ext cx="11658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3600" dirty="0">
                <a:solidFill>
                  <a:schemeClr val="accent5">
                    <a:lumMod val="50000"/>
                  </a:schemeClr>
                </a:solidFill>
              </a:rPr>
              <a:t>La Ciencia de Datos moderna no solo se trata de procesar información, sino de cuestionarla activamente</a:t>
            </a:r>
            <a:r>
              <a:rPr lang="es-ES" sz="3600" dirty="0" smtClean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pPr algn="just"/>
            <a:endParaRPr lang="es-ES" sz="3600" dirty="0">
              <a:solidFill>
                <a:schemeClr val="accent5">
                  <a:lumMod val="50000"/>
                </a:schemeClr>
              </a:solidFill>
            </a:endParaRPr>
          </a:p>
          <a:p>
            <a:pPr algn="just"/>
            <a:r>
              <a:rPr lang="es-ES" sz="3600" dirty="0">
                <a:solidFill>
                  <a:schemeClr val="accent5">
                    <a:lumMod val="50000"/>
                  </a:schemeClr>
                </a:solidFill>
              </a:rPr>
              <a:t>Exploraremos cómo el Análisis Exploratorio (EDA) fundamenta modelos confiables y cómo una cultura de </a:t>
            </a:r>
            <a:r>
              <a:rPr lang="es-ES" sz="3600" b="1" dirty="0">
                <a:solidFill>
                  <a:schemeClr val="accent5">
                    <a:lumMod val="50000"/>
                  </a:schemeClr>
                </a:solidFill>
              </a:rPr>
              <a:t>curiosidad autónoma</a:t>
            </a:r>
            <a:r>
              <a:rPr lang="es-ES" sz="3600" dirty="0">
                <a:solidFill>
                  <a:schemeClr val="accent5">
                    <a:lumMod val="50000"/>
                  </a:schemeClr>
                </a:solidFill>
              </a:rPr>
              <a:t> permite descubrir patrones estratégicos que la gestión tradicional suele ignorar, transformando datos en ventajas competitivas.</a:t>
            </a:r>
          </a:p>
          <a:p>
            <a:endParaRPr lang="es-CL" dirty="0"/>
          </a:p>
        </p:txBody>
      </p:sp>
      <p:sp>
        <p:nvSpPr>
          <p:cNvPr id="3" name="CuadroTexto 2"/>
          <p:cNvSpPr txBox="1"/>
          <p:nvPr/>
        </p:nvSpPr>
        <p:spPr>
          <a:xfrm>
            <a:off x="2366264" y="1665358"/>
            <a:ext cx="3581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000" b="1" dirty="0" smtClean="0">
                <a:solidFill>
                  <a:schemeClr val="accent5">
                    <a:lumMod val="50000"/>
                  </a:schemeClr>
                </a:solidFill>
              </a:rPr>
              <a:t>Introducción</a:t>
            </a:r>
            <a:endParaRPr lang="es-CL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127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DADDE-A40E-DA70-CBA0-AA302167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8A452-A946-75C7-725F-9E0FB496C9DC}"/>
              </a:ext>
            </a:extLst>
          </p:cNvPr>
          <p:cNvSpPr txBox="1">
            <a:spLocks/>
          </p:cNvSpPr>
          <p:nvPr/>
        </p:nvSpPr>
        <p:spPr>
          <a:xfrm>
            <a:off x="1488000" y="7069668"/>
            <a:ext cx="13512800" cy="1354217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L" sz="8800" dirty="0" smtClean="0"/>
              <a:t>EDA</a:t>
            </a:r>
            <a:endParaRPr lang="es-CL" sz="88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14EA368D-45F4-6351-F16E-F4A717A39638}"/>
              </a:ext>
            </a:extLst>
          </p:cNvPr>
          <p:cNvSpPr txBox="1">
            <a:spLocks/>
          </p:cNvSpPr>
          <p:nvPr/>
        </p:nvSpPr>
        <p:spPr>
          <a:xfrm>
            <a:off x="12390641" y="5099896"/>
            <a:ext cx="2540000" cy="1969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12800" dirty="0"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6A1A1B0-ACBC-1C39-BCA5-FA5196575208}"/>
              </a:ext>
            </a:extLst>
          </p:cNvPr>
          <p:cNvSpPr txBox="1"/>
          <p:nvPr/>
        </p:nvSpPr>
        <p:spPr>
          <a:xfrm>
            <a:off x="1028701" y="2019301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sz="2400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7FE65E34-2F41-61A3-D8D3-B728EE016146}"/>
              </a:ext>
            </a:extLst>
          </p:cNvPr>
          <p:cNvGrpSpPr/>
          <p:nvPr/>
        </p:nvGrpSpPr>
        <p:grpSpPr>
          <a:xfrm>
            <a:off x="0" y="0"/>
            <a:ext cx="13801419" cy="24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02D14F3-612A-5465-A52F-AD0D4C507A03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1C2FE712-26E6-7CCD-5B54-23AC22F4FDEA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0A5D1DDF-7E91-068D-813C-787789B37078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</p:grpSp>
    </p:spTree>
    <p:extLst>
      <p:ext uri="{BB962C8B-B14F-4D97-AF65-F5344CB8AC3E}">
        <p14:creationId xmlns:p14="http://schemas.microsoft.com/office/powerpoint/2010/main" val="2038302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4622"/>
          <a:stretch/>
        </p:blipFill>
        <p:spPr>
          <a:xfrm>
            <a:off x="0" y="38100"/>
            <a:ext cx="16256000" cy="8648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5462"/>
          <a:stretch/>
        </p:blipFill>
        <p:spPr>
          <a:xfrm>
            <a:off x="0" y="38100"/>
            <a:ext cx="16256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5462"/>
          <a:stretch/>
        </p:blipFill>
        <p:spPr>
          <a:xfrm>
            <a:off x="0" y="38100"/>
            <a:ext cx="16256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5462"/>
          <a:stretch/>
        </p:blipFill>
        <p:spPr>
          <a:xfrm>
            <a:off x="0" y="38100"/>
            <a:ext cx="16256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4622"/>
          <a:stretch/>
        </p:blipFill>
        <p:spPr>
          <a:xfrm>
            <a:off x="0" y="38100"/>
            <a:ext cx="16256000" cy="8648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5462"/>
          <a:stretch/>
        </p:blipFill>
        <p:spPr>
          <a:xfrm>
            <a:off x="0" y="38100"/>
            <a:ext cx="16256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4622"/>
          <a:stretch/>
        </p:blipFill>
        <p:spPr>
          <a:xfrm>
            <a:off x="0" y="38100"/>
            <a:ext cx="16256000" cy="8648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5462"/>
          <a:stretch/>
        </p:blipFill>
        <p:spPr>
          <a:xfrm>
            <a:off x="0" y="38100"/>
            <a:ext cx="16256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DADDE-A40E-DA70-CBA0-AA302167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8A452-A946-75C7-725F-9E0FB496C9DC}"/>
              </a:ext>
            </a:extLst>
          </p:cNvPr>
          <p:cNvSpPr txBox="1">
            <a:spLocks/>
          </p:cNvSpPr>
          <p:nvPr/>
        </p:nvSpPr>
        <p:spPr>
          <a:xfrm>
            <a:off x="1488000" y="7069668"/>
            <a:ext cx="13512800" cy="1354217"/>
          </a:xfrm>
          <a:prstGeom prst="rect">
            <a:avLst/>
          </a:prstGeom>
        </p:spPr>
        <p:txBody>
          <a:bodyPr vert="horz" lIns="121920" tIns="60960" rIns="121920" bIns="6096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L" sz="8800" dirty="0" smtClean="0"/>
              <a:t>LA CURIOSIDAD Y LA CIENCA DE LOS DATOS</a:t>
            </a:r>
            <a:endParaRPr lang="es-CL" sz="88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14EA368D-45F4-6351-F16E-F4A717A39638}"/>
              </a:ext>
            </a:extLst>
          </p:cNvPr>
          <p:cNvSpPr txBox="1">
            <a:spLocks/>
          </p:cNvSpPr>
          <p:nvPr/>
        </p:nvSpPr>
        <p:spPr>
          <a:xfrm>
            <a:off x="12390641" y="5099896"/>
            <a:ext cx="2540000" cy="1969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12800" dirty="0" smtClean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  <a:endParaRPr lang="es-CL" sz="128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6A1A1B0-ACBC-1C39-BCA5-FA5196575208}"/>
              </a:ext>
            </a:extLst>
          </p:cNvPr>
          <p:cNvSpPr txBox="1"/>
          <p:nvPr/>
        </p:nvSpPr>
        <p:spPr>
          <a:xfrm>
            <a:off x="1028701" y="2019301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sz="2400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7FE65E34-2F41-61A3-D8D3-B728EE016146}"/>
              </a:ext>
            </a:extLst>
          </p:cNvPr>
          <p:cNvGrpSpPr/>
          <p:nvPr/>
        </p:nvGrpSpPr>
        <p:grpSpPr>
          <a:xfrm>
            <a:off x="0" y="0"/>
            <a:ext cx="13801419" cy="24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02D14F3-612A-5465-A52F-AD0D4C507A03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1C2FE712-26E6-7CCD-5B54-23AC22F4FDEA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0A5D1DDF-7E91-068D-813C-787789B37078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</p:grpSp>
    </p:spTree>
    <p:extLst>
      <p:ext uri="{BB962C8B-B14F-4D97-AF65-F5344CB8AC3E}">
        <p14:creationId xmlns:p14="http://schemas.microsoft.com/office/powerpoint/2010/main" val="2244999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01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547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29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7733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772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3500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4622"/>
          <a:stretch/>
        </p:blipFill>
        <p:spPr>
          <a:xfrm>
            <a:off x="0" y="38100"/>
            <a:ext cx="16256000" cy="86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381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9064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2269"/>
          <a:stretch/>
        </p:blipFill>
        <p:spPr>
          <a:xfrm>
            <a:off x="0" y="38100"/>
            <a:ext cx="16256000" cy="70485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400" y="7162800"/>
            <a:ext cx="8526065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901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5281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9582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3539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4622"/>
          <a:stretch/>
        </p:blipFill>
        <p:spPr>
          <a:xfrm>
            <a:off x="0" y="38100"/>
            <a:ext cx="16256000" cy="86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7513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DADDE-A40E-DA70-CBA0-AA302167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8A452-A946-75C7-725F-9E0FB496C9DC}"/>
              </a:ext>
            </a:extLst>
          </p:cNvPr>
          <p:cNvSpPr txBox="1">
            <a:spLocks/>
          </p:cNvSpPr>
          <p:nvPr/>
        </p:nvSpPr>
        <p:spPr>
          <a:xfrm>
            <a:off x="1488000" y="7069668"/>
            <a:ext cx="13512800" cy="1354217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L" sz="8800" dirty="0" smtClean="0"/>
              <a:t>RESUMEN</a:t>
            </a:r>
            <a:endParaRPr lang="es-CL" sz="88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14EA368D-45F4-6351-F16E-F4A717A39638}"/>
              </a:ext>
            </a:extLst>
          </p:cNvPr>
          <p:cNvSpPr txBox="1">
            <a:spLocks/>
          </p:cNvSpPr>
          <p:nvPr/>
        </p:nvSpPr>
        <p:spPr>
          <a:xfrm>
            <a:off x="12390641" y="5099896"/>
            <a:ext cx="2540000" cy="1969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12800" dirty="0" smtClean="0"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  <a:endParaRPr lang="es-CL" sz="128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6A1A1B0-ACBC-1C39-BCA5-FA5196575208}"/>
              </a:ext>
            </a:extLst>
          </p:cNvPr>
          <p:cNvSpPr txBox="1"/>
          <p:nvPr/>
        </p:nvSpPr>
        <p:spPr>
          <a:xfrm>
            <a:off x="1028701" y="2019301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sz="2400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7FE65E34-2F41-61A3-D8D3-B728EE016146}"/>
              </a:ext>
            </a:extLst>
          </p:cNvPr>
          <p:cNvGrpSpPr/>
          <p:nvPr/>
        </p:nvGrpSpPr>
        <p:grpSpPr>
          <a:xfrm>
            <a:off x="0" y="0"/>
            <a:ext cx="13801419" cy="24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02D14F3-612A-5465-A52F-AD0D4C507A03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1C2FE712-26E6-7CCD-5B54-23AC22F4FDEA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0A5D1DDF-7E91-068D-813C-787789B37078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</p:grpSp>
    </p:spTree>
    <p:extLst>
      <p:ext uri="{BB962C8B-B14F-4D97-AF65-F5344CB8AC3E}">
        <p14:creationId xmlns:p14="http://schemas.microsoft.com/office/powerpoint/2010/main" val="23984502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DADDE-A40E-DA70-CBA0-AA302167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26A1A1B0-ACBC-1C39-BCA5-FA5196575208}"/>
              </a:ext>
            </a:extLst>
          </p:cNvPr>
          <p:cNvSpPr txBox="1"/>
          <p:nvPr/>
        </p:nvSpPr>
        <p:spPr>
          <a:xfrm>
            <a:off x="1028701" y="2019301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sz="2400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7FE65E34-2F41-61A3-D8D3-B728EE016146}"/>
              </a:ext>
            </a:extLst>
          </p:cNvPr>
          <p:cNvGrpSpPr/>
          <p:nvPr/>
        </p:nvGrpSpPr>
        <p:grpSpPr>
          <a:xfrm>
            <a:off x="0" y="0"/>
            <a:ext cx="13801419" cy="240000"/>
            <a:chOff x="1524000" y="6280030"/>
            <a:chExt cx="10351064" cy="1800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02D14F3-612A-5465-A52F-AD0D4C507A03}"/>
                </a:ext>
              </a:extLst>
            </p:cNvPr>
            <p:cNvSpPr/>
            <p:nvPr/>
          </p:nvSpPr>
          <p:spPr>
            <a:xfrm>
              <a:off x="1524000" y="6280030"/>
              <a:ext cx="2232000" cy="18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1C2FE712-26E6-7CCD-5B54-23AC22F4FDEA}"/>
                </a:ext>
              </a:extLst>
            </p:cNvPr>
            <p:cNvSpPr/>
            <p:nvPr/>
          </p:nvSpPr>
          <p:spPr>
            <a:xfrm>
              <a:off x="3787800" y="6280030"/>
              <a:ext cx="4027732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0A5D1DDF-7E91-068D-813C-787789B37078}"/>
                </a:ext>
              </a:extLst>
            </p:cNvPr>
            <p:cNvSpPr/>
            <p:nvPr/>
          </p:nvSpPr>
          <p:spPr>
            <a:xfrm>
              <a:off x="7847332" y="6280030"/>
              <a:ext cx="4027732" cy="180000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2400"/>
            </a:p>
          </p:txBody>
        </p:sp>
      </p:grpSp>
      <p:sp>
        <p:nvSpPr>
          <p:cNvPr id="7" name="CuadroTexto 6"/>
          <p:cNvSpPr txBox="1"/>
          <p:nvPr/>
        </p:nvSpPr>
        <p:spPr>
          <a:xfrm>
            <a:off x="2366264" y="1665358"/>
            <a:ext cx="3581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000" b="1" dirty="0" smtClean="0">
                <a:solidFill>
                  <a:schemeClr val="accent5">
                    <a:lumMod val="50000"/>
                  </a:schemeClr>
                </a:solidFill>
              </a:rPr>
              <a:t>Resumen</a:t>
            </a:r>
            <a:endParaRPr lang="es-CL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2392680" y="2895600"/>
            <a:ext cx="11506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s-ES" sz="3600" dirty="0">
                <a:solidFill>
                  <a:schemeClr val="accent5">
                    <a:lumMod val="50000"/>
                  </a:schemeClr>
                </a:solidFill>
              </a:rPr>
              <a:t>El éxito radica en equilibrar la </a:t>
            </a:r>
            <a:r>
              <a:rPr lang="es-ES" sz="3600" b="1" dirty="0">
                <a:solidFill>
                  <a:schemeClr val="accent5">
                    <a:lumMod val="50000"/>
                  </a:schemeClr>
                </a:solidFill>
              </a:rPr>
              <a:t>exploración libre</a:t>
            </a:r>
            <a:r>
              <a:rPr lang="es-ES" sz="3600" dirty="0">
                <a:solidFill>
                  <a:schemeClr val="accent5">
                    <a:lumMod val="50000"/>
                  </a:schemeClr>
                </a:solidFill>
              </a:rPr>
              <a:t> con el </a:t>
            </a:r>
            <a:r>
              <a:rPr lang="es-ES" sz="3600" b="1" dirty="0">
                <a:solidFill>
                  <a:schemeClr val="accent5">
                    <a:lumMod val="50000"/>
                  </a:schemeClr>
                </a:solidFill>
              </a:rPr>
              <a:t>rigor matemático</a:t>
            </a:r>
            <a:r>
              <a:rPr lang="es-ES" sz="3600" dirty="0" smtClean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pPr algn="just"/>
            <a:endParaRPr lang="es-ES" sz="3600" dirty="0">
              <a:solidFill>
                <a:schemeClr val="accent5">
                  <a:lumMod val="50000"/>
                </a:schemeClr>
              </a:solidFill>
            </a:endParaRP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s-ES" sz="3600" dirty="0">
                <a:solidFill>
                  <a:schemeClr val="accent5">
                    <a:lumMod val="50000"/>
                  </a:schemeClr>
                </a:solidFill>
              </a:rPr>
              <a:t>Un EDA meticuloso actúa como escudo contra datos erróneos, mientras que una estructura independiente y métricas de precisión (AUC, RMSE) transforman la curiosidad en resultados de negocio tangibles.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27457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144</Words>
  <Application>Microsoft Office PowerPoint</Application>
  <PresentationFormat>Personalizado</PresentationFormat>
  <Paragraphs>27</Paragraphs>
  <Slides>32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7" baseType="lpstr">
      <vt:lpstr>Arial</vt:lpstr>
      <vt:lpstr>Arial Black</vt:lpstr>
      <vt:lpstr>Calibri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Silva Mancilla, Pablo Cesar</dc:creator>
  <cp:lastModifiedBy>Silva Mancilla, Pablo Cesar</cp:lastModifiedBy>
  <cp:revision>4</cp:revision>
  <dcterms:created xsi:type="dcterms:W3CDTF">2006-08-16T00:00:00Z</dcterms:created>
  <dcterms:modified xsi:type="dcterms:W3CDTF">2026-05-15T22:33:03Z</dcterms:modified>
</cp:coreProperties>
</file>