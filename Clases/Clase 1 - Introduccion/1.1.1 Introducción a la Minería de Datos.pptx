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6" r:id="rId3"/>
    <p:sldId id="265" r:id="rId4"/>
    <p:sldId id="261" r:id="rId5"/>
    <p:sldId id="263" r:id="rId6"/>
    <p:sldId id="262" r:id="rId7"/>
    <p:sldId id="264" r:id="rId8"/>
    <p:sldId id="257" r:id="rId9"/>
    <p:sldId id="267" r:id="rId10"/>
    <p:sldId id="266" r:id="rId11"/>
    <p:sldId id="268" r:id="rId12"/>
    <p:sldId id="269" r:id="rId13"/>
    <p:sldId id="270" r:id="rId14"/>
    <p:sldId id="271" r:id="rId15"/>
    <p:sldId id="273" r:id="rId16"/>
    <p:sldId id="272" r:id="rId17"/>
    <p:sldId id="274" r:id="rId18"/>
    <p:sldId id="275" r:id="rId19"/>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100" d="100"/>
          <a:sy n="100" d="100"/>
        </p:scale>
        <p:origin x="990"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23FD59-557B-CD87-7FDC-7F0ADDA8ACA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216E9AE0-37AC-3FF0-9954-DBED8B04F2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38FF40BE-140C-61FC-EC82-0538890E18D8}"/>
              </a:ext>
            </a:extLst>
          </p:cNvPr>
          <p:cNvSpPr>
            <a:spLocks noGrp="1"/>
          </p:cNvSpPr>
          <p:nvPr>
            <p:ph type="dt" sz="half" idx="10"/>
          </p:nvPr>
        </p:nvSpPr>
        <p:spPr/>
        <p:txBody>
          <a:bodyPr/>
          <a:lstStyle/>
          <a:p>
            <a:fld id="{B422C064-C746-4804-AFA0-09BED53D9172}" type="datetimeFigureOut">
              <a:rPr lang="es-CL" smtClean="0"/>
              <a:t>20-03-2026</a:t>
            </a:fld>
            <a:endParaRPr lang="es-CL"/>
          </a:p>
        </p:txBody>
      </p:sp>
      <p:sp>
        <p:nvSpPr>
          <p:cNvPr id="5" name="Marcador de pie de página 4">
            <a:extLst>
              <a:ext uri="{FF2B5EF4-FFF2-40B4-BE49-F238E27FC236}">
                <a16:creationId xmlns:a16="http://schemas.microsoft.com/office/drawing/2014/main" id="{9BDDB10C-307C-CE4F-B6BA-F1F6E5BE88E0}"/>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CCDD5DB-814D-8189-B913-5F5AEA558C29}"/>
              </a:ext>
            </a:extLst>
          </p:cNvPr>
          <p:cNvSpPr>
            <a:spLocks noGrp="1"/>
          </p:cNvSpPr>
          <p:nvPr>
            <p:ph type="sldNum" sz="quarter" idx="12"/>
          </p:nvPr>
        </p:nvSpPr>
        <p:spPr/>
        <p:txBody>
          <a:bodyPr/>
          <a:lstStyle/>
          <a:p>
            <a:fld id="{8000C071-EE16-40D1-B2EA-080720043455}" type="slidenum">
              <a:rPr lang="es-CL" smtClean="0"/>
              <a:t>‹Nº›</a:t>
            </a:fld>
            <a:endParaRPr lang="es-CL"/>
          </a:p>
        </p:txBody>
      </p:sp>
    </p:spTree>
    <p:extLst>
      <p:ext uri="{BB962C8B-B14F-4D97-AF65-F5344CB8AC3E}">
        <p14:creationId xmlns:p14="http://schemas.microsoft.com/office/powerpoint/2010/main" val="928395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C1D209-50DA-B024-5242-EECABEBDB295}"/>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20877176-D84D-FDC1-E07E-5584611E366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C185F044-B13A-76E6-E4EC-45407D9EACC3}"/>
              </a:ext>
            </a:extLst>
          </p:cNvPr>
          <p:cNvSpPr>
            <a:spLocks noGrp="1"/>
          </p:cNvSpPr>
          <p:nvPr>
            <p:ph type="dt" sz="half" idx="10"/>
          </p:nvPr>
        </p:nvSpPr>
        <p:spPr/>
        <p:txBody>
          <a:bodyPr/>
          <a:lstStyle/>
          <a:p>
            <a:fld id="{B422C064-C746-4804-AFA0-09BED53D9172}" type="datetimeFigureOut">
              <a:rPr lang="es-CL" smtClean="0"/>
              <a:t>20-03-2026</a:t>
            </a:fld>
            <a:endParaRPr lang="es-CL"/>
          </a:p>
        </p:txBody>
      </p:sp>
      <p:sp>
        <p:nvSpPr>
          <p:cNvPr id="5" name="Marcador de pie de página 4">
            <a:extLst>
              <a:ext uri="{FF2B5EF4-FFF2-40B4-BE49-F238E27FC236}">
                <a16:creationId xmlns:a16="http://schemas.microsoft.com/office/drawing/2014/main" id="{80DA8B20-74CE-0966-66B1-B8DA2389D3F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41ACEAE5-27E8-02D1-2620-C19CB372E1D3}"/>
              </a:ext>
            </a:extLst>
          </p:cNvPr>
          <p:cNvSpPr>
            <a:spLocks noGrp="1"/>
          </p:cNvSpPr>
          <p:nvPr>
            <p:ph type="sldNum" sz="quarter" idx="12"/>
          </p:nvPr>
        </p:nvSpPr>
        <p:spPr/>
        <p:txBody>
          <a:bodyPr/>
          <a:lstStyle/>
          <a:p>
            <a:fld id="{8000C071-EE16-40D1-B2EA-080720043455}" type="slidenum">
              <a:rPr lang="es-CL" smtClean="0"/>
              <a:t>‹Nº›</a:t>
            </a:fld>
            <a:endParaRPr lang="es-CL"/>
          </a:p>
        </p:txBody>
      </p:sp>
    </p:spTree>
    <p:extLst>
      <p:ext uri="{BB962C8B-B14F-4D97-AF65-F5344CB8AC3E}">
        <p14:creationId xmlns:p14="http://schemas.microsoft.com/office/powerpoint/2010/main" val="215521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43BF15-E16C-2455-8BA3-C2A85A50296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A06C4E7E-E0B8-59B7-D1DE-FD85793AD0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9DEBCAA-E940-50FB-C4EB-F9603218FD60}"/>
              </a:ext>
            </a:extLst>
          </p:cNvPr>
          <p:cNvSpPr>
            <a:spLocks noGrp="1"/>
          </p:cNvSpPr>
          <p:nvPr>
            <p:ph type="dt" sz="half" idx="10"/>
          </p:nvPr>
        </p:nvSpPr>
        <p:spPr/>
        <p:txBody>
          <a:bodyPr/>
          <a:lstStyle/>
          <a:p>
            <a:fld id="{B422C064-C746-4804-AFA0-09BED53D9172}" type="datetimeFigureOut">
              <a:rPr lang="es-CL" smtClean="0"/>
              <a:t>20-03-2026</a:t>
            </a:fld>
            <a:endParaRPr lang="es-CL"/>
          </a:p>
        </p:txBody>
      </p:sp>
      <p:sp>
        <p:nvSpPr>
          <p:cNvPr id="5" name="Marcador de pie de página 4">
            <a:extLst>
              <a:ext uri="{FF2B5EF4-FFF2-40B4-BE49-F238E27FC236}">
                <a16:creationId xmlns:a16="http://schemas.microsoft.com/office/drawing/2014/main" id="{0DF95E8B-5B20-D5E3-E3F1-A8B6F44631E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DCF468D-3E36-7C7F-E811-5C59997F624B}"/>
              </a:ext>
            </a:extLst>
          </p:cNvPr>
          <p:cNvSpPr>
            <a:spLocks noGrp="1"/>
          </p:cNvSpPr>
          <p:nvPr>
            <p:ph type="sldNum" sz="quarter" idx="12"/>
          </p:nvPr>
        </p:nvSpPr>
        <p:spPr/>
        <p:txBody>
          <a:bodyPr/>
          <a:lstStyle/>
          <a:p>
            <a:fld id="{8000C071-EE16-40D1-B2EA-080720043455}" type="slidenum">
              <a:rPr lang="es-CL" smtClean="0"/>
              <a:t>‹Nº›</a:t>
            </a:fld>
            <a:endParaRPr lang="es-CL"/>
          </a:p>
        </p:txBody>
      </p:sp>
    </p:spTree>
    <p:extLst>
      <p:ext uri="{BB962C8B-B14F-4D97-AF65-F5344CB8AC3E}">
        <p14:creationId xmlns:p14="http://schemas.microsoft.com/office/powerpoint/2010/main" val="2520031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1AE552-1057-17D5-F751-3D24FFF4FD6D}"/>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8E71B28C-938B-2554-5E7B-036F6011375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BB206447-1E8A-3407-52A2-B7B188A5533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63432E25-C9EC-BDDC-ECB3-08E2987EBA62}"/>
              </a:ext>
            </a:extLst>
          </p:cNvPr>
          <p:cNvSpPr>
            <a:spLocks noGrp="1"/>
          </p:cNvSpPr>
          <p:nvPr>
            <p:ph type="dt" sz="half" idx="10"/>
          </p:nvPr>
        </p:nvSpPr>
        <p:spPr/>
        <p:txBody>
          <a:bodyPr/>
          <a:lstStyle/>
          <a:p>
            <a:fld id="{B422C064-C746-4804-AFA0-09BED53D9172}" type="datetimeFigureOut">
              <a:rPr lang="es-CL" smtClean="0"/>
              <a:t>20-03-2026</a:t>
            </a:fld>
            <a:endParaRPr lang="es-CL"/>
          </a:p>
        </p:txBody>
      </p:sp>
      <p:sp>
        <p:nvSpPr>
          <p:cNvPr id="6" name="Marcador de pie de página 5">
            <a:extLst>
              <a:ext uri="{FF2B5EF4-FFF2-40B4-BE49-F238E27FC236}">
                <a16:creationId xmlns:a16="http://schemas.microsoft.com/office/drawing/2014/main" id="{A7862005-35E3-786F-2E35-0CB03DE58DD0}"/>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6743C02C-4E96-1568-7E60-F9FFD547F9E6}"/>
              </a:ext>
            </a:extLst>
          </p:cNvPr>
          <p:cNvSpPr>
            <a:spLocks noGrp="1"/>
          </p:cNvSpPr>
          <p:nvPr>
            <p:ph type="sldNum" sz="quarter" idx="12"/>
          </p:nvPr>
        </p:nvSpPr>
        <p:spPr/>
        <p:txBody>
          <a:bodyPr/>
          <a:lstStyle/>
          <a:p>
            <a:fld id="{8000C071-EE16-40D1-B2EA-080720043455}" type="slidenum">
              <a:rPr lang="es-CL" smtClean="0"/>
              <a:t>‹Nº›</a:t>
            </a:fld>
            <a:endParaRPr lang="es-CL"/>
          </a:p>
        </p:txBody>
      </p:sp>
    </p:spTree>
    <p:extLst>
      <p:ext uri="{BB962C8B-B14F-4D97-AF65-F5344CB8AC3E}">
        <p14:creationId xmlns:p14="http://schemas.microsoft.com/office/powerpoint/2010/main" val="3938399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AC2FFA-6B1E-D353-9532-DB9B89FECA5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E8F44D8F-AFC8-7EA5-1272-3E144E9A04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F63F97C-B0EF-C89D-1D82-038405A78B6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1897B3D1-2644-F35B-CF82-58B4805F51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F8F9436-1FF6-012F-97C9-AFC20ED9DBB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265BC754-43C2-F1E3-6226-94565FA77703}"/>
              </a:ext>
            </a:extLst>
          </p:cNvPr>
          <p:cNvSpPr>
            <a:spLocks noGrp="1"/>
          </p:cNvSpPr>
          <p:nvPr>
            <p:ph type="dt" sz="half" idx="10"/>
          </p:nvPr>
        </p:nvSpPr>
        <p:spPr/>
        <p:txBody>
          <a:bodyPr/>
          <a:lstStyle/>
          <a:p>
            <a:fld id="{B422C064-C746-4804-AFA0-09BED53D9172}" type="datetimeFigureOut">
              <a:rPr lang="es-CL" smtClean="0"/>
              <a:t>20-03-2026</a:t>
            </a:fld>
            <a:endParaRPr lang="es-CL"/>
          </a:p>
        </p:txBody>
      </p:sp>
      <p:sp>
        <p:nvSpPr>
          <p:cNvPr id="8" name="Marcador de pie de página 7">
            <a:extLst>
              <a:ext uri="{FF2B5EF4-FFF2-40B4-BE49-F238E27FC236}">
                <a16:creationId xmlns:a16="http://schemas.microsoft.com/office/drawing/2014/main" id="{DD2992E3-419A-E756-9302-E5F01D93A0F0}"/>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07A948F6-DCF1-5F2B-0064-4AB83617C5D9}"/>
              </a:ext>
            </a:extLst>
          </p:cNvPr>
          <p:cNvSpPr>
            <a:spLocks noGrp="1"/>
          </p:cNvSpPr>
          <p:nvPr>
            <p:ph type="sldNum" sz="quarter" idx="12"/>
          </p:nvPr>
        </p:nvSpPr>
        <p:spPr/>
        <p:txBody>
          <a:bodyPr/>
          <a:lstStyle/>
          <a:p>
            <a:fld id="{8000C071-EE16-40D1-B2EA-080720043455}" type="slidenum">
              <a:rPr lang="es-CL" smtClean="0"/>
              <a:t>‹Nº›</a:t>
            </a:fld>
            <a:endParaRPr lang="es-CL"/>
          </a:p>
        </p:txBody>
      </p:sp>
    </p:spTree>
    <p:extLst>
      <p:ext uri="{BB962C8B-B14F-4D97-AF65-F5344CB8AC3E}">
        <p14:creationId xmlns:p14="http://schemas.microsoft.com/office/powerpoint/2010/main" val="3011618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A77229-156A-E305-0F97-4569F000DE09}"/>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3871A85E-CA5B-F449-8945-71DBBC54CCA8}"/>
              </a:ext>
            </a:extLst>
          </p:cNvPr>
          <p:cNvSpPr>
            <a:spLocks noGrp="1"/>
          </p:cNvSpPr>
          <p:nvPr>
            <p:ph type="dt" sz="half" idx="10"/>
          </p:nvPr>
        </p:nvSpPr>
        <p:spPr/>
        <p:txBody>
          <a:bodyPr/>
          <a:lstStyle/>
          <a:p>
            <a:fld id="{B422C064-C746-4804-AFA0-09BED53D9172}" type="datetimeFigureOut">
              <a:rPr lang="es-CL" smtClean="0"/>
              <a:t>20-03-2026</a:t>
            </a:fld>
            <a:endParaRPr lang="es-CL"/>
          </a:p>
        </p:txBody>
      </p:sp>
      <p:sp>
        <p:nvSpPr>
          <p:cNvPr id="4" name="Marcador de pie de página 3">
            <a:extLst>
              <a:ext uri="{FF2B5EF4-FFF2-40B4-BE49-F238E27FC236}">
                <a16:creationId xmlns:a16="http://schemas.microsoft.com/office/drawing/2014/main" id="{C28B6C1F-5D5B-367C-68E2-98279F036C05}"/>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27101194-EE79-3BAE-F1FA-11B24B06B109}"/>
              </a:ext>
            </a:extLst>
          </p:cNvPr>
          <p:cNvSpPr>
            <a:spLocks noGrp="1"/>
          </p:cNvSpPr>
          <p:nvPr>
            <p:ph type="sldNum" sz="quarter" idx="12"/>
          </p:nvPr>
        </p:nvSpPr>
        <p:spPr/>
        <p:txBody>
          <a:bodyPr/>
          <a:lstStyle/>
          <a:p>
            <a:fld id="{8000C071-EE16-40D1-B2EA-080720043455}" type="slidenum">
              <a:rPr lang="es-CL" smtClean="0"/>
              <a:t>‹Nº›</a:t>
            </a:fld>
            <a:endParaRPr lang="es-CL"/>
          </a:p>
        </p:txBody>
      </p:sp>
    </p:spTree>
    <p:extLst>
      <p:ext uri="{BB962C8B-B14F-4D97-AF65-F5344CB8AC3E}">
        <p14:creationId xmlns:p14="http://schemas.microsoft.com/office/powerpoint/2010/main" val="764682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AB05901-8CE0-56C7-1A8E-D8A6D5F4D5E4}"/>
              </a:ext>
            </a:extLst>
          </p:cNvPr>
          <p:cNvSpPr>
            <a:spLocks noGrp="1"/>
          </p:cNvSpPr>
          <p:nvPr>
            <p:ph type="dt" sz="half" idx="10"/>
          </p:nvPr>
        </p:nvSpPr>
        <p:spPr/>
        <p:txBody>
          <a:bodyPr/>
          <a:lstStyle/>
          <a:p>
            <a:fld id="{B422C064-C746-4804-AFA0-09BED53D9172}" type="datetimeFigureOut">
              <a:rPr lang="es-CL" smtClean="0"/>
              <a:t>20-03-2026</a:t>
            </a:fld>
            <a:endParaRPr lang="es-CL"/>
          </a:p>
        </p:txBody>
      </p:sp>
      <p:sp>
        <p:nvSpPr>
          <p:cNvPr id="3" name="Marcador de pie de página 2">
            <a:extLst>
              <a:ext uri="{FF2B5EF4-FFF2-40B4-BE49-F238E27FC236}">
                <a16:creationId xmlns:a16="http://schemas.microsoft.com/office/drawing/2014/main" id="{0C931F90-1D24-BCCD-679A-15987134858D}"/>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1C5DBF0E-D19F-730C-DBA1-B010F85B0856}"/>
              </a:ext>
            </a:extLst>
          </p:cNvPr>
          <p:cNvSpPr>
            <a:spLocks noGrp="1"/>
          </p:cNvSpPr>
          <p:nvPr>
            <p:ph type="sldNum" sz="quarter" idx="12"/>
          </p:nvPr>
        </p:nvSpPr>
        <p:spPr/>
        <p:txBody>
          <a:bodyPr/>
          <a:lstStyle/>
          <a:p>
            <a:fld id="{8000C071-EE16-40D1-B2EA-080720043455}" type="slidenum">
              <a:rPr lang="es-CL" smtClean="0"/>
              <a:t>‹Nº›</a:t>
            </a:fld>
            <a:endParaRPr lang="es-CL"/>
          </a:p>
        </p:txBody>
      </p:sp>
    </p:spTree>
    <p:extLst>
      <p:ext uri="{BB962C8B-B14F-4D97-AF65-F5344CB8AC3E}">
        <p14:creationId xmlns:p14="http://schemas.microsoft.com/office/powerpoint/2010/main" val="4052173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F7CA1A-4D5F-98D9-4D2E-6EA68761AFC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F9B69EF7-B9C6-4EE5-2BBF-C1A89EE8C7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8038536C-FCEF-08A7-BBF9-63DDEAE4E0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E31DC8D-E1E3-C50B-44C5-EC9A6C61C473}"/>
              </a:ext>
            </a:extLst>
          </p:cNvPr>
          <p:cNvSpPr>
            <a:spLocks noGrp="1"/>
          </p:cNvSpPr>
          <p:nvPr>
            <p:ph type="dt" sz="half" idx="10"/>
          </p:nvPr>
        </p:nvSpPr>
        <p:spPr/>
        <p:txBody>
          <a:bodyPr/>
          <a:lstStyle/>
          <a:p>
            <a:fld id="{B422C064-C746-4804-AFA0-09BED53D9172}" type="datetimeFigureOut">
              <a:rPr lang="es-CL" smtClean="0"/>
              <a:t>20-03-2026</a:t>
            </a:fld>
            <a:endParaRPr lang="es-CL"/>
          </a:p>
        </p:txBody>
      </p:sp>
      <p:sp>
        <p:nvSpPr>
          <p:cNvPr id="6" name="Marcador de pie de página 5">
            <a:extLst>
              <a:ext uri="{FF2B5EF4-FFF2-40B4-BE49-F238E27FC236}">
                <a16:creationId xmlns:a16="http://schemas.microsoft.com/office/drawing/2014/main" id="{CF35EA24-E27E-CA2B-AB88-C18459127E19}"/>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EC062DEB-7E7F-1F35-3607-9A8286687E86}"/>
              </a:ext>
            </a:extLst>
          </p:cNvPr>
          <p:cNvSpPr>
            <a:spLocks noGrp="1"/>
          </p:cNvSpPr>
          <p:nvPr>
            <p:ph type="sldNum" sz="quarter" idx="12"/>
          </p:nvPr>
        </p:nvSpPr>
        <p:spPr/>
        <p:txBody>
          <a:bodyPr/>
          <a:lstStyle/>
          <a:p>
            <a:fld id="{8000C071-EE16-40D1-B2EA-080720043455}" type="slidenum">
              <a:rPr lang="es-CL" smtClean="0"/>
              <a:t>‹Nº›</a:t>
            </a:fld>
            <a:endParaRPr lang="es-CL"/>
          </a:p>
        </p:txBody>
      </p:sp>
    </p:spTree>
    <p:extLst>
      <p:ext uri="{BB962C8B-B14F-4D97-AF65-F5344CB8AC3E}">
        <p14:creationId xmlns:p14="http://schemas.microsoft.com/office/powerpoint/2010/main" val="3233713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1B2505-B799-647B-F263-80665CCBF39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22ED30F4-E5F1-951B-46CB-DC5ABDEF2D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4EBA9A67-020C-855A-E112-EDF60AF6F7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C022791-2F8F-9DCC-F96D-190164A93A33}"/>
              </a:ext>
            </a:extLst>
          </p:cNvPr>
          <p:cNvSpPr>
            <a:spLocks noGrp="1"/>
          </p:cNvSpPr>
          <p:nvPr>
            <p:ph type="dt" sz="half" idx="10"/>
          </p:nvPr>
        </p:nvSpPr>
        <p:spPr/>
        <p:txBody>
          <a:bodyPr/>
          <a:lstStyle/>
          <a:p>
            <a:fld id="{B422C064-C746-4804-AFA0-09BED53D9172}" type="datetimeFigureOut">
              <a:rPr lang="es-CL" smtClean="0"/>
              <a:t>20-03-2026</a:t>
            </a:fld>
            <a:endParaRPr lang="es-CL"/>
          </a:p>
        </p:txBody>
      </p:sp>
      <p:sp>
        <p:nvSpPr>
          <p:cNvPr id="6" name="Marcador de pie de página 5">
            <a:extLst>
              <a:ext uri="{FF2B5EF4-FFF2-40B4-BE49-F238E27FC236}">
                <a16:creationId xmlns:a16="http://schemas.microsoft.com/office/drawing/2014/main" id="{C5FD5993-8A5F-799B-3E79-8BACBA1B2293}"/>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882C2F84-2B45-C4F1-AB92-033CB47C8126}"/>
              </a:ext>
            </a:extLst>
          </p:cNvPr>
          <p:cNvSpPr>
            <a:spLocks noGrp="1"/>
          </p:cNvSpPr>
          <p:nvPr>
            <p:ph type="sldNum" sz="quarter" idx="12"/>
          </p:nvPr>
        </p:nvSpPr>
        <p:spPr/>
        <p:txBody>
          <a:bodyPr/>
          <a:lstStyle/>
          <a:p>
            <a:fld id="{8000C071-EE16-40D1-B2EA-080720043455}" type="slidenum">
              <a:rPr lang="es-CL" smtClean="0"/>
              <a:t>‹Nº›</a:t>
            </a:fld>
            <a:endParaRPr lang="es-CL"/>
          </a:p>
        </p:txBody>
      </p:sp>
    </p:spTree>
    <p:extLst>
      <p:ext uri="{BB962C8B-B14F-4D97-AF65-F5344CB8AC3E}">
        <p14:creationId xmlns:p14="http://schemas.microsoft.com/office/powerpoint/2010/main" val="3419210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ACF0C1-91DD-566A-3290-D2AB15BADEC7}"/>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DED7B0D9-C050-19DC-7803-006D8CB7459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923C020-9E6E-B79E-A187-0E9ACC130211}"/>
              </a:ext>
            </a:extLst>
          </p:cNvPr>
          <p:cNvSpPr>
            <a:spLocks noGrp="1"/>
          </p:cNvSpPr>
          <p:nvPr>
            <p:ph type="dt" sz="half" idx="10"/>
          </p:nvPr>
        </p:nvSpPr>
        <p:spPr/>
        <p:txBody>
          <a:bodyPr/>
          <a:lstStyle/>
          <a:p>
            <a:fld id="{B422C064-C746-4804-AFA0-09BED53D9172}" type="datetimeFigureOut">
              <a:rPr lang="es-CL" smtClean="0"/>
              <a:t>20-03-2026</a:t>
            </a:fld>
            <a:endParaRPr lang="es-CL"/>
          </a:p>
        </p:txBody>
      </p:sp>
      <p:sp>
        <p:nvSpPr>
          <p:cNvPr id="5" name="Marcador de pie de página 4">
            <a:extLst>
              <a:ext uri="{FF2B5EF4-FFF2-40B4-BE49-F238E27FC236}">
                <a16:creationId xmlns:a16="http://schemas.microsoft.com/office/drawing/2014/main" id="{04040236-EFB3-BAEA-F4DA-441753896F94}"/>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C25FE842-A3E2-BFB5-6767-AC510F34B5AB}"/>
              </a:ext>
            </a:extLst>
          </p:cNvPr>
          <p:cNvSpPr>
            <a:spLocks noGrp="1"/>
          </p:cNvSpPr>
          <p:nvPr>
            <p:ph type="sldNum" sz="quarter" idx="12"/>
          </p:nvPr>
        </p:nvSpPr>
        <p:spPr/>
        <p:txBody>
          <a:bodyPr/>
          <a:lstStyle/>
          <a:p>
            <a:fld id="{8000C071-EE16-40D1-B2EA-080720043455}" type="slidenum">
              <a:rPr lang="es-CL" smtClean="0"/>
              <a:t>‹Nº›</a:t>
            </a:fld>
            <a:endParaRPr lang="es-CL"/>
          </a:p>
        </p:txBody>
      </p:sp>
    </p:spTree>
    <p:extLst>
      <p:ext uri="{BB962C8B-B14F-4D97-AF65-F5344CB8AC3E}">
        <p14:creationId xmlns:p14="http://schemas.microsoft.com/office/powerpoint/2010/main" val="2378391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10C7923-2D25-4A7D-6D7F-50FF90E0F63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DC0B35F1-CC19-1CFE-3636-28DBFCA3348A}"/>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2E2557B-BB31-B482-1BB5-AC7A7D318969}"/>
              </a:ext>
            </a:extLst>
          </p:cNvPr>
          <p:cNvSpPr>
            <a:spLocks noGrp="1"/>
          </p:cNvSpPr>
          <p:nvPr>
            <p:ph type="dt" sz="half" idx="10"/>
          </p:nvPr>
        </p:nvSpPr>
        <p:spPr/>
        <p:txBody>
          <a:bodyPr/>
          <a:lstStyle/>
          <a:p>
            <a:fld id="{B422C064-C746-4804-AFA0-09BED53D9172}" type="datetimeFigureOut">
              <a:rPr lang="es-CL" smtClean="0"/>
              <a:t>20-03-2026</a:t>
            </a:fld>
            <a:endParaRPr lang="es-CL"/>
          </a:p>
        </p:txBody>
      </p:sp>
      <p:sp>
        <p:nvSpPr>
          <p:cNvPr id="5" name="Marcador de pie de página 4">
            <a:extLst>
              <a:ext uri="{FF2B5EF4-FFF2-40B4-BE49-F238E27FC236}">
                <a16:creationId xmlns:a16="http://schemas.microsoft.com/office/drawing/2014/main" id="{C4B813F9-9139-ADAD-EDAC-0977998C461A}"/>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DE35FF4B-600F-CB23-84A7-1241B15DA375}"/>
              </a:ext>
            </a:extLst>
          </p:cNvPr>
          <p:cNvSpPr>
            <a:spLocks noGrp="1"/>
          </p:cNvSpPr>
          <p:nvPr>
            <p:ph type="sldNum" sz="quarter" idx="12"/>
          </p:nvPr>
        </p:nvSpPr>
        <p:spPr/>
        <p:txBody>
          <a:bodyPr/>
          <a:lstStyle/>
          <a:p>
            <a:fld id="{8000C071-EE16-40D1-B2EA-080720043455}" type="slidenum">
              <a:rPr lang="es-CL" smtClean="0"/>
              <a:t>‹Nº›</a:t>
            </a:fld>
            <a:endParaRPr lang="es-CL"/>
          </a:p>
        </p:txBody>
      </p:sp>
    </p:spTree>
    <p:extLst>
      <p:ext uri="{BB962C8B-B14F-4D97-AF65-F5344CB8AC3E}">
        <p14:creationId xmlns:p14="http://schemas.microsoft.com/office/powerpoint/2010/main" val="2475225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1AD948E-DAF5-789A-7072-804B1EC7E4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0CA64ADD-3E13-2F6C-F237-2754AD72F7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4FFEA1E3-0429-BAA8-D24B-2E97264E46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422C064-C746-4804-AFA0-09BED53D9172}" type="datetimeFigureOut">
              <a:rPr lang="es-CL" smtClean="0"/>
              <a:t>20-03-2026</a:t>
            </a:fld>
            <a:endParaRPr lang="es-CL"/>
          </a:p>
        </p:txBody>
      </p:sp>
      <p:sp>
        <p:nvSpPr>
          <p:cNvPr id="5" name="Marcador de pie de página 4">
            <a:extLst>
              <a:ext uri="{FF2B5EF4-FFF2-40B4-BE49-F238E27FC236}">
                <a16:creationId xmlns:a16="http://schemas.microsoft.com/office/drawing/2014/main" id="{0C15BC2A-EC9A-6EF7-400A-71D43E4DCE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L"/>
          </a:p>
        </p:txBody>
      </p:sp>
      <p:sp>
        <p:nvSpPr>
          <p:cNvPr id="6" name="Marcador de número de diapositiva 5">
            <a:extLst>
              <a:ext uri="{FF2B5EF4-FFF2-40B4-BE49-F238E27FC236}">
                <a16:creationId xmlns:a16="http://schemas.microsoft.com/office/drawing/2014/main" id="{282BD904-95F1-0172-8242-A97EF2B665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00C071-EE16-40D1-B2EA-080720043455}" type="slidenum">
              <a:rPr lang="es-CL" smtClean="0"/>
              <a:t>‹Nº›</a:t>
            </a:fld>
            <a:endParaRPr lang="es-CL"/>
          </a:p>
        </p:txBody>
      </p:sp>
    </p:spTree>
    <p:extLst>
      <p:ext uri="{BB962C8B-B14F-4D97-AF65-F5344CB8AC3E}">
        <p14:creationId xmlns:p14="http://schemas.microsoft.com/office/powerpoint/2010/main" val="15571163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A9DB6D60-3F88-78DB-1A15-E493CF364AD7}"/>
              </a:ext>
            </a:extLst>
          </p:cNvPr>
          <p:cNvPicPr>
            <a:picLocks noChangeAspect="1"/>
          </p:cNvPicPr>
          <p:nvPr/>
        </p:nvPicPr>
        <p:blipFill>
          <a:blip r:embed="rId2">
            <a:duotone>
              <a:prstClr val="black"/>
              <a:schemeClr val="accent2">
                <a:tint val="45000"/>
                <a:satMod val="400000"/>
              </a:schemeClr>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b="15701"/>
          <a:stretch>
            <a:fillRect/>
          </a:stretch>
        </p:blipFill>
        <p:spPr>
          <a:xfrm>
            <a:off x="0" y="1076787"/>
            <a:ext cx="12192000" cy="5781213"/>
          </a:xfrm>
          <a:prstGeom prst="rect">
            <a:avLst/>
          </a:prstGeom>
        </p:spPr>
      </p:pic>
      <p:pic>
        <p:nvPicPr>
          <p:cNvPr id="5" name="Imagen 4">
            <a:extLst>
              <a:ext uri="{FF2B5EF4-FFF2-40B4-BE49-F238E27FC236}">
                <a16:creationId xmlns:a16="http://schemas.microsoft.com/office/drawing/2014/main" id="{AE431753-3975-0A7E-B9CD-85C5F39500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0976" y="280988"/>
            <a:ext cx="1943100" cy="724662"/>
          </a:xfrm>
          <a:prstGeom prst="rect">
            <a:avLst/>
          </a:prstGeom>
        </p:spPr>
      </p:pic>
      <p:sp>
        <p:nvSpPr>
          <p:cNvPr id="7" name="CuadroTexto 6">
            <a:extLst>
              <a:ext uri="{FF2B5EF4-FFF2-40B4-BE49-F238E27FC236}">
                <a16:creationId xmlns:a16="http://schemas.microsoft.com/office/drawing/2014/main" id="{DBC6525C-531D-228A-9125-B67B0C971B0E}"/>
              </a:ext>
            </a:extLst>
          </p:cNvPr>
          <p:cNvSpPr txBox="1"/>
          <p:nvPr/>
        </p:nvSpPr>
        <p:spPr>
          <a:xfrm>
            <a:off x="2124076" y="4325035"/>
            <a:ext cx="3257549" cy="830997"/>
          </a:xfrm>
          <a:prstGeom prst="rect">
            <a:avLst/>
          </a:prstGeom>
          <a:noFill/>
        </p:spPr>
        <p:txBody>
          <a:bodyPr wrap="square">
            <a:spAutoFit/>
          </a:bodyPr>
          <a:lstStyle/>
          <a:p>
            <a:r>
              <a:rPr lang="es-CL" sz="2400" b="1" spc="-10" dirty="0">
                <a:solidFill>
                  <a:schemeClr val="bg1"/>
                </a:solidFill>
              </a:rPr>
              <a:t>INTRODUCCIÓN A LA</a:t>
            </a:r>
            <a:br>
              <a:rPr lang="es-CL" sz="2400" b="1" dirty="0">
                <a:solidFill>
                  <a:schemeClr val="bg1"/>
                </a:solidFill>
              </a:rPr>
            </a:br>
            <a:r>
              <a:rPr lang="es-CL" sz="2400" b="1" dirty="0">
                <a:solidFill>
                  <a:schemeClr val="bg1"/>
                </a:solidFill>
              </a:rPr>
              <a:t>MINERÍA DE DATOS</a:t>
            </a:r>
          </a:p>
        </p:txBody>
      </p:sp>
      <p:sp>
        <p:nvSpPr>
          <p:cNvPr id="8" name="Rectángulo 7">
            <a:extLst>
              <a:ext uri="{FF2B5EF4-FFF2-40B4-BE49-F238E27FC236}">
                <a16:creationId xmlns:a16="http://schemas.microsoft.com/office/drawing/2014/main" id="{8BB13A4F-1461-E2EC-EDB4-8D47A9B0AE7E}"/>
              </a:ext>
            </a:extLst>
          </p:cNvPr>
          <p:cNvSpPr/>
          <p:nvPr/>
        </p:nvSpPr>
        <p:spPr>
          <a:xfrm>
            <a:off x="9267825" y="2962275"/>
            <a:ext cx="1190625" cy="389572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9" name="Rectángulo 8">
            <a:extLst>
              <a:ext uri="{FF2B5EF4-FFF2-40B4-BE49-F238E27FC236}">
                <a16:creationId xmlns:a16="http://schemas.microsoft.com/office/drawing/2014/main" id="{0D63BF26-ABA4-0005-87BC-88D77773647A}"/>
              </a:ext>
            </a:extLst>
          </p:cNvPr>
          <p:cNvSpPr/>
          <p:nvPr/>
        </p:nvSpPr>
        <p:spPr>
          <a:xfrm>
            <a:off x="9267824" y="1217179"/>
            <a:ext cx="1190625" cy="113968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nvGrpSpPr>
          <p:cNvPr id="10" name="Grupo 9">
            <a:extLst>
              <a:ext uri="{FF2B5EF4-FFF2-40B4-BE49-F238E27FC236}">
                <a16:creationId xmlns:a16="http://schemas.microsoft.com/office/drawing/2014/main" id="{931EC933-35B2-DA69-A81F-68C7F3F551FF}"/>
              </a:ext>
            </a:extLst>
          </p:cNvPr>
          <p:cNvGrpSpPr/>
          <p:nvPr/>
        </p:nvGrpSpPr>
        <p:grpSpPr>
          <a:xfrm>
            <a:off x="0" y="0"/>
            <a:ext cx="10351064" cy="180000"/>
            <a:chOff x="1524000" y="6280030"/>
            <a:chExt cx="10351064" cy="180000"/>
          </a:xfrm>
        </p:grpSpPr>
        <p:sp>
          <p:nvSpPr>
            <p:cNvPr id="11" name="Rectángulo 10">
              <a:extLst>
                <a:ext uri="{FF2B5EF4-FFF2-40B4-BE49-F238E27FC236}">
                  <a16:creationId xmlns:a16="http://schemas.microsoft.com/office/drawing/2014/main" id="{8AD8F31D-DD97-E178-E806-E31B45A14ADB}"/>
                </a:ext>
              </a:extLst>
            </p:cNvPr>
            <p:cNvSpPr/>
            <p:nvPr/>
          </p:nvSpPr>
          <p:spPr>
            <a:xfrm>
              <a:off x="1524000" y="6280030"/>
              <a:ext cx="2232000" cy="180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2" name="Rectángulo 11">
              <a:extLst>
                <a:ext uri="{FF2B5EF4-FFF2-40B4-BE49-F238E27FC236}">
                  <a16:creationId xmlns:a16="http://schemas.microsoft.com/office/drawing/2014/main" id="{FAAEB192-904A-4D3D-BBEA-251B97597B13}"/>
                </a:ext>
              </a:extLst>
            </p:cNvPr>
            <p:cNvSpPr/>
            <p:nvPr/>
          </p:nvSpPr>
          <p:spPr>
            <a:xfrm>
              <a:off x="3787800" y="6280030"/>
              <a:ext cx="4027732" cy="180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62EB97BB-9C1D-EFD6-E715-4256D7F78CE0}"/>
                </a:ext>
              </a:extLst>
            </p:cNvPr>
            <p:cNvSpPr/>
            <p:nvPr/>
          </p:nvSpPr>
          <p:spPr>
            <a:xfrm>
              <a:off x="7847332" y="6280030"/>
              <a:ext cx="4027732" cy="180000"/>
            </a:xfrm>
            <a:prstGeom prst="rect">
              <a:avLst/>
            </a:prstGeom>
            <a:solidFill>
              <a:srgbClr val="FF9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cxnSp>
        <p:nvCxnSpPr>
          <p:cNvPr id="17" name="Conector recto 16">
            <a:extLst>
              <a:ext uri="{FF2B5EF4-FFF2-40B4-BE49-F238E27FC236}">
                <a16:creationId xmlns:a16="http://schemas.microsoft.com/office/drawing/2014/main" id="{A2F15324-F052-54DD-C9A8-D2C8195FADE0}"/>
              </a:ext>
            </a:extLst>
          </p:cNvPr>
          <p:cNvCxnSpPr/>
          <p:nvPr/>
        </p:nvCxnSpPr>
        <p:spPr>
          <a:xfrm>
            <a:off x="2009775" y="4048125"/>
            <a:ext cx="0" cy="1543050"/>
          </a:xfrm>
          <a:prstGeom prst="line">
            <a:avLst/>
          </a:prstGeom>
          <a:ln w="76200">
            <a:solidFill>
              <a:schemeClr val="bg1"/>
            </a:solidFill>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23953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B4FFA-7EE7-B8FF-5379-6C3A824AC1EE}"/>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5ACC792A-ABFD-F02B-6F02-25968A42D6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976" y="280988"/>
            <a:ext cx="1943100" cy="724662"/>
          </a:xfrm>
          <a:prstGeom prst="rect">
            <a:avLst/>
          </a:prstGeom>
        </p:spPr>
      </p:pic>
      <p:sp>
        <p:nvSpPr>
          <p:cNvPr id="2" name="Rectángulo 1">
            <a:extLst>
              <a:ext uri="{FF2B5EF4-FFF2-40B4-BE49-F238E27FC236}">
                <a16:creationId xmlns:a16="http://schemas.microsoft.com/office/drawing/2014/main" id="{41BBD25D-76A8-47C4-9808-AD4B10FE6B9D}"/>
              </a:ext>
            </a:extLst>
          </p:cNvPr>
          <p:cNvSpPr/>
          <p:nvPr/>
        </p:nvSpPr>
        <p:spPr>
          <a:xfrm>
            <a:off x="5346700" y="1005650"/>
            <a:ext cx="2600392" cy="523220"/>
          </a:xfrm>
          <a:prstGeom prst="rect">
            <a:avLst/>
          </a:prstGeom>
        </p:spPr>
        <p:txBody>
          <a:bodyPr wrap="none">
            <a:spAutoFit/>
          </a:bodyPr>
          <a:lstStyle/>
          <a:p>
            <a:r>
              <a:rPr lang="es-CL" sz="2800" b="1" dirty="0">
                <a:latin typeface="Arial Black" panose="020B0604020202020204" pitchFamily="34" charset="0"/>
                <a:cs typeface="Arial Black" panose="020B0604020202020204" pitchFamily="34" charset="0"/>
              </a:rPr>
              <a:t>CONTENIDO</a:t>
            </a:r>
          </a:p>
        </p:txBody>
      </p:sp>
      <p:sp>
        <p:nvSpPr>
          <p:cNvPr id="3" name="Título 1">
            <a:extLst>
              <a:ext uri="{FF2B5EF4-FFF2-40B4-BE49-F238E27FC236}">
                <a16:creationId xmlns:a16="http://schemas.microsoft.com/office/drawing/2014/main" id="{50A6CE02-0C04-7C4A-E337-CFC522FA5DF2}"/>
              </a:ext>
            </a:extLst>
          </p:cNvPr>
          <p:cNvSpPr txBox="1">
            <a:spLocks/>
          </p:cNvSpPr>
          <p:nvPr/>
        </p:nvSpPr>
        <p:spPr>
          <a:xfrm>
            <a:off x="5445312" y="1928374"/>
            <a:ext cx="1066800" cy="430887"/>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2800" dirty="0">
                <a:latin typeface="Arial Black" panose="020B0604020202020204" pitchFamily="34" charset="0"/>
                <a:cs typeface="Arial Black" panose="020B0604020202020204" pitchFamily="34" charset="0"/>
              </a:rPr>
              <a:t>01</a:t>
            </a:r>
          </a:p>
        </p:txBody>
      </p:sp>
      <p:sp>
        <p:nvSpPr>
          <p:cNvPr id="4" name="Título 1">
            <a:extLst>
              <a:ext uri="{FF2B5EF4-FFF2-40B4-BE49-F238E27FC236}">
                <a16:creationId xmlns:a16="http://schemas.microsoft.com/office/drawing/2014/main" id="{43CAC78E-5440-13CA-DC3B-7037165246C0}"/>
              </a:ext>
            </a:extLst>
          </p:cNvPr>
          <p:cNvSpPr txBox="1">
            <a:spLocks/>
          </p:cNvSpPr>
          <p:nvPr/>
        </p:nvSpPr>
        <p:spPr>
          <a:xfrm>
            <a:off x="5445311" y="3530477"/>
            <a:ext cx="4579097" cy="861774"/>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2800" dirty="0"/>
              <a:t>DISCIPLINAS INVOLUCRADAS</a:t>
            </a:r>
          </a:p>
        </p:txBody>
      </p:sp>
      <p:sp>
        <p:nvSpPr>
          <p:cNvPr id="6" name="Título 1">
            <a:extLst>
              <a:ext uri="{FF2B5EF4-FFF2-40B4-BE49-F238E27FC236}">
                <a16:creationId xmlns:a16="http://schemas.microsoft.com/office/drawing/2014/main" id="{CBB9CE1A-B6E3-BE3F-BB90-7F7F6753083A}"/>
              </a:ext>
            </a:extLst>
          </p:cNvPr>
          <p:cNvSpPr txBox="1">
            <a:spLocks/>
          </p:cNvSpPr>
          <p:nvPr/>
        </p:nvSpPr>
        <p:spPr>
          <a:xfrm>
            <a:off x="5385174" y="3147455"/>
            <a:ext cx="1066800" cy="430887"/>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2800" dirty="0">
                <a:latin typeface="Arial Black" panose="020B0604020202020204" pitchFamily="34" charset="0"/>
                <a:cs typeface="Arial Black" panose="020B0604020202020204" pitchFamily="34" charset="0"/>
              </a:rPr>
              <a:t>02</a:t>
            </a:r>
          </a:p>
        </p:txBody>
      </p:sp>
      <p:sp>
        <p:nvSpPr>
          <p:cNvPr id="10" name="Título 1">
            <a:extLst>
              <a:ext uri="{FF2B5EF4-FFF2-40B4-BE49-F238E27FC236}">
                <a16:creationId xmlns:a16="http://schemas.microsoft.com/office/drawing/2014/main" id="{88DAD282-17D5-267A-DC8E-E740E6C370A8}"/>
              </a:ext>
            </a:extLst>
          </p:cNvPr>
          <p:cNvSpPr txBox="1">
            <a:spLocks/>
          </p:cNvSpPr>
          <p:nvPr/>
        </p:nvSpPr>
        <p:spPr>
          <a:xfrm>
            <a:off x="5445311" y="5186177"/>
            <a:ext cx="4165973" cy="430887"/>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2800" dirty="0"/>
              <a:t>APLICACIONES</a:t>
            </a:r>
          </a:p>
        </p:txBody>
      </p:sp>
      <p:sp>
        <p:nvSpPr>
          <p:cNvPr id="11" name="Título 1">
            <a:extLst>
              <a:ext uri="{FF2B5EF4-FFF2-40B4-BE49-F238E27FC236}">
                <a16:creationId xmlns:a16="http://schemas.microsoft.com/office/drawing/2014/main" id="{CE85DE42-B8C9-140D-E74A-39EF96BAEDD4}"/>
              </a:ext>
            </a:extLst>
          </p:cNvPr>
          <p:cNvSpPr txBox="1">
            <a:spLocks/>
          </p:cNvSpPr>
          <p:nvPr/>
        </p:nvSpPr>
        <p:spPr>
          <a:xfrm>
            <a:off x="5385174" y="4685816"/>
            <a:ext cx="1066800" cy="430887"/>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2800" dirty="0">
                <a:latin typeface="Arial Black" panose="020B0604020202020204" pitchFamily="34" charset="0"/>
                <a:cs typeface="Arial Black" panose="020B0604020202020204" pitchFamily="34" charset="0"/>
              </a:rPr>
              <a:t>03</a:t>
            </a:r>
          </a:p>
        </p:txBody>
      </p:sp>
      <p:sp>
        <p:nvSpPr>
          <p:cNvPr id="12" name="Título 1">
            <a:extLst>
              <a:ext uri="{FF2B5EF4-FFF2-40B4-BE49-F238E27FC236}">
                <a16:creationId xmlns:a16="http://schemas.microsoft.com/office/drawing/2014/main" id="{791B368D-99FF-464E-8631-479EB5242940}"/>
              </a:ext>
            </a:extLst>
          </p:cNvPr>
          <p:cNvSpPr txBox="1">
            <a:spLocks/>
          </p:cNvSpPr>
          <p:nvPr/>
        </p:nvSpPr>
        <p:spPr>
          <a:xfrm>
            <a:off x="5445312" y="2305664"/>
            <a:ext cx="4579097" cy="430887"/>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2800" dirty="0"/>
              <a:t>INTRODUCCION</a:t>
            </a:r>
          </a:p>
        </p:txBody>
      </p:sp>
      <p:sp>
        <p:nvSpPr>
          <p:cNvPr id="13" name="Título 1">
            <a:extLst>
              <a:ext uri="{FF2B5EF4-FFF2-40B4-BE49-F238E27FC236}">
                <a16:creationId xmlns:a16="http://schemas.microsoft.com/office/drawing/2014/main" id="{A37C6D17-A626-BCEF-4DD2-55DC233389BF}"/>
              </a:ext>
            </a:extLst>
          </p:cNvPr>
          <p:cNvSpPr txBox="1">
            <a:spLocks/>
          </p:cNvSpPr>
          <p:nvPr/>
        </p:nvSpPr>
        <p:spPr>
          <a:xfrm>
            <a:off x="9512673" y="3674373"/>
            <a:ext cx="4728882" cy="430887"/>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r>
              <a:rPr lang="es-CL" sz="2800" dirty="0"/>
              <a:t>RESUMEN</a:t>
            </a:r>
          </a:p>
        </p:txBody>
      </p:sp>
      <p:sp>
        <p:nvSpPr>
          <p:cNvPr id="14" name="Título 1">
            <a:extLst>
              <a:ext uri="{FF2B5EF4-FFF2-40B4-BE49-F238E27FC236}">
                <a16:creationId xmlns:a16="http://schemas.microsoft.com/office/drawing/2014/main" id="{0CF6ACCD-3EA3-CB30-89A8-C28E8ED3282B}"/>
              </a:ext>
            </a:extLst>
          </p:cNvPr>
          <p:cNvSpPr txBox="1">
            <a:spLocks/>
          </p:cNvSpPr>
          <p:nvPr/>
        </p:nvSpPr>
        <p:spPr>
          <a:xfrm>
            <a:off x="9512673" y="3243486"/>
            <a:ext cx="1066800" cy="430887"/>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2800" dirty="0">
                <a:latin typeface="Arial Black" panose="020B0604020202020204" pitchFamily="34" charset="0"/>
                <a:cs typeface="Arial Black" panose="020B0604020202020204" pitchFamily="34" charset="0"/>
              </a:rPr>
              <a:t>04</a:t>
            </a:r>
          </a:p>
        </p:txBody>
      </p:sp>
      <p:grpSp>
        <p:nvGrpSpPr>
          <p:cNvPr id="15" name="Grupo 14">
            <a:extLst>
              <a:ext uri="{FF2B5EF4-FFF2-40B4-BE49-F238E27FC236}">
                <a16:creationId xmlns:a16="http://schemas.microsoft.com/office/drawing/2014/main" id="{B515A3A8-E762-76CB-7B64-5E874C37876E}"/>
              </a:ext>
            </a:extLst>
          </p:cNvPr>
          <p:cNvGrpSpPr/>
          <p:nvPr/>
        </p:nvGrpSpPr>
        <p:grpSpPr>
          <a:xfrm>
            <a:off x="0" y="0"/>
            <a:ext cx="10351064" cy="180000"/>
            <a:chOff x="1524000" y="6280030"/>
            <a:chExt cx="10351064" cy="180000"/>
          </a:xfrm>
        </p:grpSpPr>
        <p:sp>
          <p:nvSpPr>
            <p:cNvPr id="16" name="Rectángulo 15">
              <a:extLst>
                <a:ext uri="{FF2B5EF4-FFF2-40B4-BE49-F238E27FC236}">
                  <a16:creationId xmlns:a16="http://schemas.microsoft.com/office/drawing/2014/main" id="{B6B40A44-15C7-7942-35E7-EC48BA29C833}"/>
                </a:ext>
              </a:extLst>
            </p:cNvPr>
            <p:cNvSpPr/>
            <p:nvPr/>
          </p:nvSpPr>
          <p:spPr>
            <a:xfrm>
              <a:off x="1524000" y="6280030"/>
              <a:ext cx="2232000" cy="180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7" name="Rectángulo 16">
              <a:extLst>
                <a:ext uri="{FF2B5EF4-FFF2-40B4-BE49-F238E27FC236}">
                  <a16:creationId xmlns:a16="http://schemas.microsoft.com/office/drawing/2014/main" id="{6464BAE6-238B-AC5E-C126-8907DBB04BEC}"/>
                </a:ext>
              </a:extLst>
            </p:cNvPr>
            <p:cNvSpPr/>
            <p:nvPr/>
          </p:nvSpPr>
          <p:spPr>
            <a:xfrm>
              <a:off x="3787800" y="6280030"/>
              <a:ext cx="4027732" cy="180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8" name="Rectángulo 17">
              <a:extLst>
                <a:ext uri="{FF2B5EF4-FFF2-40B4-BE49-F238E27FC236}">
                  <a16:creationId xmlns:a16="http://schemas.microsoft.com/office/drawing/2014/main" id="{945DD13B-AE0B-F02B-BE87-3FD0E24D4F8E}"/>
                </a:ext>
              </a:extLst>
            </p:cNvPr>
            <p:cNvSpPr/>
            <p:nvPr/>
          </p:nvSpPr>
          <p:spPr>
            <a:xfrm>
              <a:off x="7847332" y="6280030"/>
              <a:ext cx="4027732" cy="180000"/>
            </a:xfrm>
            <a:prstGeom prst="rect">
              <a:avLst/>
            </a:prstGeom>
            <a:solidFill>
              <a:srgbClr val="FF9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spTree>
    <p:extLst>
      <p:ext uri="{BB962C8B-B14F-4D97-AF65-F5344CB8AC3E}">
        <p14:creationId xmlns:p14="http://schemas.microsoft.com/office/powerpoint/2010/main" val="178587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3F1F8-3C7A-D093-617D-14F053290B6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5A783F8-0AD4-153D-667A-2B88D510DC22}"/>
              </a:ext>
            </a:extLst>
          </p:cNvPr>
          <p:cNvSpPr txBox="1">
            <a:spLocks/>
          </p:cNvSpPr>
          <p:nvPr/>
        </p:nvSpPr>
        <p:spPr>
          <a:xfrm>
            <a:off x="1028700" y="5302250"/>
            <a:ext cx="10134600" cy="10156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s-CL" sz="6600"/>
              <a:t>INTRODUCCIÓN</a:t>
            </a:r>
            <a:endParaRPr lang="es-CL" sz="6600" dirty="0"/>
          </a:p>
        </p:txBody>
      </p:sp>
      <p:sp>
        <p:nvSpPr>
          <p:cNvPr id="3" name="Título 1">
            <a:extLst>
              <a:ext uri="{FF2B5EF4-FFF2-40B4-BE49-F238E27FC236}">
                <a16:creationId xmlns:a16="http://schemas.microsoft.com/office/drawing/2014/main" id="{74000361-B2C8-18DB-3106-B4D45A3786D8}"/>
              </a:ext>
            </a:extLst>
          </p:cNvPr>
          <p:cNvSpPr txBox="1">
            <a:spLocks/>
          </p:cNvSpPr>
          <p:nvPr/>
        </p:nvSpPr>
        <p:spPr>
          <a:xfrm>
            <a:off x="9292981" y="3824922"/>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r"/>
            <a:r>
              <a:rPr lang="es-CL" sz="9600">
                <a:latin typeface="Arial Black" panose="020B0604020202020204" pitchFamily="34" charset="0"/>
                <a:cs typeface="Arial Black" panose="020B0604020202020204" pitchFamily="34" charset="0"/>
              </a:rPr>
              <a:t>01</a:t>
            </a:r>
            <a:endParaRPr lang="es-CL" sz="9600" dirty="0">
              <a:latin typeface="Arial Black" panose="020B0604020202020204" pitchFamily="34" charset="0"/>
              <a:cs typeface="Arial Black" panose="020B0604020202020204" pitchFamily="34" charset="0"/>
            </a:endParaRPr>
          </a:p>
        </p:txBody>
      </p:sp>
      <p:sp>
        <p:nvSpPr>
          <p:cNvPr id="6" name="CuadroTexto 5">
            <a:extLst>
              <a:ext uri="{FF2B5EF4-FFF2-40B4-BE49-F238E27FC236}">
                <a16:creationId xmlns:a16="http://schemas.microsoft.com/office/drawing/2014/main" id="{51E08748-27EB-771F-E6C9-CAC8BA736401}"/>
              </a:ext>
            </a:extLst>
          </p:cNvPr>
          <p:cNvSpPr txBox="1"/>
          <p:nvPr/>
        </p:nvSpPr>
        <p:spPr>
          <a:xfrm>
            <a:off x="771525" y="1514475"/>
            <a:ext cx="184731" cy="369332"/>
          </a:xfrm>
          <a:prstGeom prst="rect">
            <a:avLst/>
          </a:prstGeom>
          <a:noFill/>
        </p:spPr>
        <p:txBody>
          <a:bodyPr wrap="none" rtlCol="0">
            <a:spAutoFit/>
          </a:bodyPr>
          <a:lstStyle/>
          <a:p>
            <a:endParaRPr lang="es-CL" dirty="0"/>
          </a:p>
        </p:txBody>
      </p:sp>
      <p:grpSp>
        <p:nvGrpSpPr>
          <p:cNvPr id="8" name="Grupo 7">
            <a:extLst>
              <a:ext uri="{FF2B5EF4-FFF2-40B4-BE49-F238E27FC236}">
                <a16:creationId xmlns:a16="http://schemas.microsoft.com/office/drawing/2014/main" id="{AF76F9D0-6FD6-1C3E-666C-C8F009A1BFE7}"/>
              </a:ext>
            </a:extLst>
          </p:cNvPr>
          <p:cNvGrpSpPr/>
          <p:nvPr/>
        </p:nvGrpSpPr>
        <p:grpSpPr>
          <a:xfrm>
            <a:off x="0" y="0"/>
            <a:ext cx="10351064" cy="180000"/>
            <a:chOff x="1524000" y="6280030"/>
            <a:chExt cx="10351064" cy="180000"/>
          </a:xfrm>
        </p:grpSpPr>
        <p:sp>
          <p:nvSpPr>
            <p:cNvPr id="9" name="Rectángulo 8">
              <a:extLst>
                <a:ext uri="{FF2B5EF4-FFF2-40B4-BE49-F238E27FC236}">
                  <a16:creationId xmlns:a16="http://schemas.microsoft.com/office/drawing/2014/main" id="{A2DAEEC8-DB5A-A350-21DD-A367CE2FFA2D}"/>
                </a:ext>
              </a:extLst>
            </p:cNvPr>
            <p:cNvSpPr/>
            <p:nvPr/>
          </p:nvSpPr>
          <p:spPr>
            <a:xfrm>
              <a:off x="1524000" y="6280030"/>
              <a:ext cx="2232000" cy="180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3BB816D4-5CA3-0762-15C1-47CF9B627747}"/>
                </a:ext>
              </a:extLst>
            </p:cNvPr>
            <p:cNvSpPr/>
            <p:nvPr/>
          </p:nvSpPr>
          <p:spPr>
            <a:xfrm>
              <a:off x="3787800" y="6280030"/>
              <a:ext cx="4027732" cy="180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7B5CB445-174F-7D07-F0B8-92C25A60080A}"/>
                </a:ext>
              </a:extLst>
            </p:cNvPr>
            <p:cNvSpPr/>
            <p:nvPr/>
          </p:nvSpPr>
          <p:spPr>
            <a:xfrm>
              <a:off x="7847332" y="6280030"/>
              <a:ext cx="4027732" cy="180000"/>
            </a:xfrm>
            <a:prstGeom prst="rect">
              <a:avLst/>
            </a:prstGeom>
            <a:solidFill>
              <a:srgbClr val="FF9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spTree>
    <p:extLst>
      <p:ext uri="{BB962C8B-B14F-4D97-AF65-F5344CB8AC3E}">
        <p14:creationId xmlns:p14="http://schemas.microsoft.com/office/powerpoint/2010/main" val="2254184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7ABB8-6E4C-CECE-17AB-C08084F5F246}"/>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78D9265F-39C1-AA46-A846-1F500DDCAF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6012418"/>
            <a:ext cx="1638300" cy="610990"/>
          </a:xfrm>
          <a:prstGeom prst="rect">
            <a:avLst/>
          </a:prstGeom>
        </p:spPr>
      </p:pic>
      <p:sp>
        <p:nvSpPr>
          <p:cNvPr id="6" name="CuadroTexto 5">
            <a:extLst>
              <a:ext uri="{FF2B5EF4-FFF2-40B4-BE49-F238E27FC236}">
                <a16:creationId xmlns:a16="http://schemas.microsoft.com/office/drawing/2014/main" id="{22A31E18-F503-A918-35D1-3D63D64EA249}"/>
              </a:ext>
            </a:extLst>
          </p:cNvPr>
          <p:cNvSpPr txBox="1"/>
          <p:nvPr/>
        </p:nvSpPr>
        <p:spPr>
          <a:xfrm>
            <a:off x="771525" y="1514475"/>
            <a:ext cx="184731" cy="369332"/>
          </a:xfrm>
          <a:prstGeom prst="rect">
            <a:avLst/>
          </a:prstGeom>
          <a:noFill/>
        </p:spPr>
        <p:txBody>
          <a:bodyPr wrap="none" rtlCol="0">
            <a:spAutoFit/>
          </a:bodyPr>
          <a:lstStyle/>
          <a:p>
            <a:endParaRPr lang="es-CL" dirty="0"/>
          </a:p>
        </p:txBody>
      </p:sp>
      <p:grpSp>
        <p:nvGrpSpPr>
          <p:cNvPr id="8" name="Grupo 7">
            <a:extLst>
              <a:ext uri="{FF2B5EF4-FFF2-40B4-BE49-F238E27FC236}">
                <a16:creationId xmlns:a16="http://schemas.microsoft.com/office/drawing/2014/main" id="{2ED3434D-DFF5-4F01-A3B4-7117E40BF87E}"/>
              </a:ext>
            </a:extLst>
          </p:cNvPr>
          <p:cNvGrpSpPr/>
          <p:nvPr/>
        </p:nvGrpSpPr>
        <p:grpSpPr>
          <a:xfrm>
            <a:off x="0" y="0"/>
            <a:ext cx="10351064" cy="180000"/>
            <a:chOff x="1524000" y="6280030"/>
            <a:chExt cx="10351064" cy="180000"/>
          </a:xfrm>
        </p:grpSpPr>
        <p:sp>
          <p:nvSpPr>
            <p:cNvPr id="9" name="Rectángulo 8">
              <a:extLst>
                <a:ext uri="{FF2B5EF4-FFF2-40B4-BE49-F238E27FC236}">
                  <a16:creationId xmlns:a16="http://schemas.microsoft.com/office/drawing/2014/main" id="{AC7A5F7A-84A5-BA10-AC41-89CC1298DE52}"/>
                </a:ext>
              </a:extLst>
            </p:cNvPr>
            <p:cNvSpPr/>
            <p:nvPr/>
          </p:nvSpPr>
          <p:spPr>
            <a:xfrm>
              <a:off x="1524000" y="6280030"/>
              <a:ext cx="2232000" cy="180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CE84E4E9-BCBB-DE43-48A3-40DD57013A93}"/>
                </a:ext>
              </a:extLst>
            </p:cNvPr>
            <p:cNvSpPr/>
            <p:nvPr/>
          </p:nvSpPr>
          <p:spPr>
            <a:xfrm>
              <a:off x="3787800" y="6280030"/>
              <a:ext cx="4027732" cy="180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D0B969E9-62A9-98EA-3A3F-FAB7F40D72C2}"/>
                </a:ext>
              </a:extLst>
            </p:cNvPr>
            <p:cNvSpPr/>
            <p:nvPr/>
          </p:nvSpPr>
          <p:spPr>
            <a:xfrm>
              <a:off x="7847332" y="6280030"/>
              <a:ext cx="4027732" cy="180000"/>
            </a:xfrm>
            <a:prstGeom prst="rect">
              <a:avLst/>
            </a:prstGeom>
            <a:solidFill>
              <a:srgbClr val="FF9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sp>
        <p:nvSpPr>
          <p:cNvPr id="16" name="Título 1">
            <a:extLst>
              <a:ext uri="{FF2B5EF4-FFF2-40B4-BE49-F238E27FC236}">
                <a16:creationId xmlns:a16="http://schemas.microsoft.com/office/drawing/2014/main" id="{7177EB73-6FDF-1C2F-A330-98657D016D75}"/>
              </a:ext>
            </a:extLst>
          </p:cNvPr>
          <p:cNvSpPr txBox="1">
            <a:spLocks/>
          </p:cNvSpPr>
          <p:nvPr/>
        </p:nvSpPr>
        <p:spPr>
          <a:xfrm>
            <a:off x="0" y="234592"/>
            <a:ext cx="3856779" cy="73866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CL" sz="3200" b="1" dirty="0"/>
              <a:t>INTRODUCCIÓN</a:t>
            </a:r>
          </a:p>
        </p:txBody>
      </p:sp>
      <p:pic>
        <p:nvPicPr>
          <p:cNvPr id="17" name="Imagen 16">
            <a:extLst>
              <a:ext uri="{FF2B5EF4-FFF2-40B4-BE49-F238E27FC236}">
                <a16:creationId xmlns:a16="http://schemas.microsoft.com/office/drawing/2014/main" id="{1D704A64-5780-5211-B1F7-F5C048502427}"/>
              </a:ext>
            </a:extLst>
          </p:cNvPr>
          <p:cNvPicPr>
            <a:picLocks noChangeAspect="1"/>
          </p:cNvPicPr>
          <p:nvPr/>
        </p:nvPicPr>
        <p:blipFill>
          <a:blip r:embed="rId3"/>
          <a:stretch>
            <a:fillRect/>
          </a:stretch>
        </p:blipFill>
        <p:spPr>
          <a:xfrm>
            <a:off x="447887" y="1244044"/>
            <a:ext cx="1285663" cy="1617958"/>
          </a:xfrm>
          <a:prstGeom prst="rect">
            <a:avLst/>
          </a:prstGeom>
        </p:spPr>
      </p:pic>
      <p:sp>
        <p:nvSpPr>
          <p:cNvPr id="18" name="CuadroTexto 17">
            <a:extLst>
              <a:ext uri="{FF2B5EF4-FFF2-40B4-BE49-F238E27FC236}">
                <a16:creationId xmlns:a16="http://schemas.microsoft.com/office/drawing/2014/main" id="{E20919E0-A152-AA5F-CE2D-84A024D1AF26}"/>
              </a:ext>
            </a:extLst>
          </p:cNvPr>
          <p:cNvSpPr txBox="1"/>
          <p:nvPr/>
        </p:nvSpPr>
        <p:spPr>
          <a:xfrm>
            <a:off x="2146300" y="1283642"/>
            <a:ext cx="5892800" cy="1200329"/>
          </a:xfrm>
          <a:prstGeom prst="rect">
            <a:avLst/>
          </a:prstGeom>
          <a:noFill/>
        </p:spPr>
        <p:txBody>
          <a:bodyPr wrap="square" rtlCol="0">
            <a:spAutoFit/>
          </a:bodyPr>
          <a:lstStyle/>
          <a:p>
            <a:r>
              <a:rPr lang="es-ES" b="1" dirty="0"/>
              <a:t>W. Edwards Deming (Estadístico y profesor):</a:t>
            </a:r>
            <a:r>
              <a:rPr lang="es-ES" dirty="0"/>
              <a:t> </a:t>
            </a:r>
          </a:p>
          <a:p>
            <a:r>
              <a:rPr lang="es-ES" dirty="0"/>
              <a:t>Considerado el padre de la gestión de calidad moderna.</a:t>
            </a:r>
          </a:p>
          <a:p>
            <a:r>
              <a:rPr lang="es-ES" dirty="0"/>
              <a:t>"En Dios confiamos; todos los demás deben traer datos".</a:t>
            </a:r>
          </a:p>
          <a:p>
            <a:endParaRPr lang="es-CL" dirty="0"/>
          </a:p>
        </p:txBody>
      </p:sp>
      <p:pic>
        <p:nvPicPr>
          <p:cNvPr id="19" name="Imagen 18">
            <a:extLst>
              <a:ext uri="{FF2B5EF4-FFF2-40B4-BE49-F238E27FC236}">
                <a16:creationId xmlns:a16="http://schemas.microsoft.com/office/drawing/2014/main" id="{5D6C5201-88F0-F42A-D5DC-F16D08AB2C9A}"/>
              </a:ext>
            </a:extLst>
          </p:cNvPr>
          <p:cNvPicPr>
            <a:picLocks noChangeAspect="1"/>
          </p:cNvPicPr>
          <p:nvPr/>
        </p:nvPicPr>
        <p:blipFill>
          <a:blip r:embed="rId4"/>
          <a:stretch>
            <a:fillRect/>
          </a:stretch>
        </p:blipFill>
        <p:spPr>
          <a:xfrm>
            <a:off x="9319247" y="2182518"/>
            <a:ext cx="1452905" cy="1892600"/>
          </a:xfrm>
          <a:prstGeom prst="rect">
            <a:avLst/>
          </a:prstGeom>
        </p:spPr>
      </p:pic>
      <p:sp>
        <p:nvSpPr>
          <p:cNvPr id="20" name="CuadroTexto 19">
            <a:extLst>
              <a:ext uri="{FF2B5EF4-FFF2-40B4-BE49-F238E27FC236}">
                <a16:creationId xmlns:a16="http://schemas.microsoft.com/office/drawing/2014/main" id="{F0E1DEAD-620C-04CD-930E-4615542714C5}"/>
              </a:ext>
            </a:extLst>
          </p:cNvPr>
          <p:cNvSpPr txBox="1"/>
          <p:nvPr/>
        </p:nvSpPr>
        <p:spPr>
          <a:xfrm>
            <a:off x="2263800" y="2722530"/>
            <a:ext cx="7145768" cy="1200329"/>
          </a:xfrm>
          <a:prstGeom prst="rect">
            <a:avLst/>
          </a:prstGeom>
          <a:noFill/>
        </p:spPr>
        <p:txBody>
          <a:bodyPr wrap="square" rtlCol="0">
            <a:spAutoFit/>
          </a:bodyPr>
          <a:lstStyle/>
          <a:p>
            <a:r>
              <a:rPr lang="es-ES" b="1" dirty="0"/>
              <a:t>Tim Berners-Lee (Científico de la computación e inventor de la </a:t>
            </a:r>
            <a:r>
              <a:rPr lang="es-ES" b="1" dirty="0" err="1"/>
              <a:t>World</a:t>
            </a:r>
            <a:r>
              <a:rPr lang="es-ES" b="1" dirty="0"/>
              <a:t> Wide Web):</a:t>
            </a:r>
            <a:r>
              <a:rPr lang="es-ES" dirty="0"/>
              <a:t> Subraya la durabilidad y el valor a largo plazo.</a:t>
            </a:r>
          </a:p>
          <a:p>
            <a:r>
              <a:rPr lang="es-ES" dirty="0"/>
              <a:t>"Los datos son algo precioso y durarán más que los propios sistemas".</a:t>
            </a:r>
          </a:p>
          <a:p>
            <a:endParaRPr lang="es-CL" dirty="0"/>
          </a:p>
        </p:txBody>
      </p:sp>
      <p:pic>
        <p:nvPicPr>
          <p:cNvPr id="21" name="Imagen 20">
            <a:extLst>
              <a:ext uri="{FF2B5EF4-FFF2-40B4-BE49-F238E27FC236}">
                <a16:creationId xmlns:a16="http://schemas.microsoft.com/office/drawing/2014/main" id="{1353B4DC-B481-E3AE-33A8-BC0EEA534B42}"/>
              </a:ext>
            </a:extLst>
          </p:cNvPr>
          <p:cNvPicPr>
            <a:picLocks noChangeAspect="1"/>
          </p:cNvPicPr>
          <p:nvPr/>
        </p:nvPicPr>
        <p:blipFill>
          <a:blip r:embed="rId5"/>
          <a:stretch>
            <a:fillRect/>
          </a:stretch>
        </p:blipFill>
        <p:spPr>
          <a:xfrm>
            <a:off x="1733550" y="3883058"/>
            <a:ext cx="1863388" cy="2286885"/>
          </a:xfrm>
          <a:prstGeom prst="rect">
            <a:avLst/>
          </a:prstGeom>
        </p:spPr>
      </p:pic>
      <p:sp>
        <p:nvSpPr>
          <p:cNvPr id="23" name="CuadroTexto 22">
            <a:extLst>
              <a:ext uri="{FF2B5EF4-FFF2-40B4-BE49-F238E27FC236}">
                <a16:creationId xmlns:a16="http://schemas.microsoft.com/office/drawing/2014/main" id="{342DA6EA-FA9F-F915-9E08-7EEA4B705701}"/>
              </a:ext>
            </a:extLst>
          </p:cNvPr>
          <p:cNvSpPr txBox="1"/>
          <p:nvPr/>
        </p:nvSpPr>
        <p:spPr>
          <a:xfrm>
            <a:off x="4156572" y="4563587"/>
            <a:ext cx="7315200" cy="1754326"/>
          </a:xfrm>
          <a:prstGeom prst="rect">
            <a:avLst/>
          </a:prstGeom>
          <a:noFill/>
        </p:spPr>
        <p:txBody>
          <a:bodyPr wrap="square" rtlCol="0">
            <a:spAutoFit/>
          </a:bodyPr>
          <a:lstStyle/>
          <a:p>
            <a:r>
              <a:rPr lang="es-ES" b="1" dirty="0"/>
              <a:t>Satya Nadella (CEO de Microsoft):</a:t>
            </a:r>
            <a:r>
              <a:rPr lang="es-ES" dirty="0"/>
              <a:t> Sobre la relevancia en la capacidad predictiva.</a:t>
            </a:r>
          </a:p>
          <a:p>
            <a:r>
              <a:rPr lang="es-ES" dirty="0"/>
              <a:t>"La tecnología de datos es ahora la base de todo lo que hacemos. No se trata solo de los datos que tenemos, sino de la capacidad de convertir esos datos en inteligencia".</a:t>
            </a:r>
          </a:p>
          <a:p>
            <a:endParaRPr lang="es-CL" dirty="0"/>
          </a:p>
        </p:txBody>
      </p:sp>
    </p:spTree>
    <p:extLst>
      <p:ext uri="{BB962C8B-B14F-4D97-AF65-F5344CB8AC3E}">
        <p14:creationId xmlns:p14="http://schemas.microsoft.com/office/powerpoint/2010/main" val="3454402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BE4DA-3907-9268-88BD-B8C7AD7DCA61}"/>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F3DF646C-16F6-506F-10D9-44753A0BAC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6012418"/>
            <a:ext cx="1638300" cy="610990"/>
          </a:xfrm>
          <a:prstGeom prst="rect">
            <a:avLst/>
          </a:prstGeom>
        </p:spPr>
      </p:pic>
      <p:sp>
        <p:nvSpPr>
          <p:cNvPr id="6" name="CuadroTexto 5">
            <a:extLst>
              <a:ext uri="{FF2B5EF4-FFF2-40B4-BE49-F238E27FC236}">
                <a16:creationId xmlns:a16="http://schemas.microsoft.com/office/drawing/2014/main" id="{0BABE1B3-8489-A67E-F775-0860F8F96E9A}"/>
              </a:ext>
            </a:extLst>
          </p:cNvPr>
          <p:cNvSpPr txBox="1"/>
          <p:nvPr/>
        </p:nvSpPr>
        <p:spPr>
          <a:xfrm>
            <a:off x="771525" y="1514475"/>
            <a:ext cx="184731" cy="369332"/>
          </a:xfrm>
          <a:prstGeom prst="rect">
            <a:avLst/>
          </a:prstGeom>
          <a:noFill/>
        </p:spPr>
        <p:txBody>
          <a:bodyPr wrap="none" rtlCol="0">
            <a:spAutoFit/>
          </a:bodyPr>
          <a:lstStyle/>
          <a:p>
            <a:endParaRPr lang="es-CL" dirty="0"/>
          </a:p>
        </p:txBody>
      </p:sp>
      <p:grpSp>
        <p:nvGrpSpPr>
          <p:cNvPr id="8" name="Grupo 7">
            <a:extLst>
              <a:ext uri="{FF2B5EF4-FFF2-40B4-BE49-F238E27FC236}">
                <a16:creationId xmlns:a16="http://schemas.microsoft.com/office/drawing/2014/main" id="{20EA56E2-DA60-5295-EF26-AAC78579B10D}"/>
              </a:ext>
            </a:extLst>
          </p:cNvPr>
          <p:cNvGrpSpPr/>
          <p:nvPr/>
        </p:nvGrpSpPr>
        <p:grpSpPr>
          <a:xfrm>
            <a:off x="0" y="0"/>
            <a:ext cx="10351064" cy="180000"/>
            <a:chOff x="1524000" y="6280030"/>
            <a:chExt cx="10351064" cy="180000"/>
          </a:xfrm>
        </p:grpSpPr>
        <p:sp>
          <p:nvSpPr>
            <p:cNvPr id="9" name="Rectángulo 8">
              <a:extLst>
                <a:ext uri="{FF2B5EF4-FFF2-40B4-BE49-F238E27FC236}">
                  <a16:creationId xmlns:a16="http://schemas.microsoft.com/office/drawing/2014/main" id="{4F0F9BF4-792A-D6C0-33BD-33863B6AB8F0}"/>
                </a:ext>
              </a:extLst>
            </p:cNvPr>
            <p:cNvSpPr/>
            <p:nvPr/>
          </p:nvSpPr>
          <p:spPr>
            <a:xfrm>
              <a:off x="1524000" y="6280030"/>
              <a:ext cx="2232000" cy="180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433FDD16-C428-9B63-5F1A-655AFFAC7D65}"/>
                </a:ext>
              </a:extLst>
            </p:cNvPr>
            <p:cNvSpPr/>
            <p:nvPr/>
          </p:nvSpPr>
          <p:spPr>
            <a:xfrm>
              <a:off x="3787800" y="6280030"/>
              <a:ext cx="4027732" cy="180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7E208B52-304A-9A0B-829C-44D327305AA5}"/>
                </a:ext>
              </a:extLst>
            </p:cNvPr>
            <p:cNvSpPr/>
            <p:nvPr/>
          </p:nvSpPr>
          <p:spPr>
            <a:xfrm>
              <a:off x="7847332" y="6280030"/>
              <a:ext cx="4027732" cy="180000"/>
            </a:xfrm>
            <a:prstGeom prst="rect">
              <a:avLst/>
            </a:prstGeom>
            <a:solidFill>
              <a:srgbClr val="FF9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sp>
        <p:nvSpPr>
          <p:cNvPr id="16" name="Título 1">
            <a:extLst>
              <a:ext uri="{FF2B5EF4-FFF2-40B4-BE49-F238E27FC236}">
                <a16:creationId xmlns:a16="http://schemas.microsoft.com/office/drawing/2014/main" id="{AA4E899D-C569-7E42-5119-51560C08CA1C}"/>
              </a:ext>
            </a:extLst>
          </p:cNvPr>
          <p:cNvSpPr txBox="1">
            <a:spLocks/>
          </p:cNvSpPr>
          <p:nvPr/>
        </p:nvSpPr>
        <p:spPr>
          <a:xfrm>
            <a:off x="0" y="234592"/>
            <a:ext cx="3856779" cy="73866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CL" sz="3200" b="1" dirty="0"/>
              <a:t>INTRODUCCIÓN</a:t>
            </a:r>
          </a:p>
        </p:txBody>
      </p:sp>
      <p:sp>
        <p:nvSpPr>
          <p:cNvPr id="2" name="CuadroTexto 1">
            <a:extLst>
              <a:ext uri="{FF2B5EF4-FFF2-40B4-BE49-F238E27FC236}">
                <a16:creationId xmlns:a16="http://schemas.microsoft.com/office/drawing/2014/main" id="{51FE0435-F6C8-069A-4588-D30A09FC7991}"/>
              </a:ext>
            </a:extLst>
          </p:cNvPr>
          <p:cNvSpPr txBox="1"/>
          <p:nvPr/>
        </p:nvSpPr>
        <p:spPr>
          <a:xfrm>
            <a:off x="863890" y="1582340"/>
            <a:ext cx="5788025" cy="3693319"/>
          </a:xfrm>
          <a:prstGeom prst="rect">
            <a:avLst/>
          </a:prstGeom>
          <a:noFill/>
        </p:spPr>
        <p:txBody>
          <a:bodyPr wrap="square" rtlCol="0">
            <a:spAutoFit/>
          </a:bodyPr>
          <a:lstStyle/>
          <a:p>
            <a:pPr algn="just"/>
            <a:r>
              <a:rPr lang="es-ES" dirty="0"/>
              <a:t>Este </a:t>
            </a:r>
            <a:r>
              <a:rPr lang="es-ES" b="1" dirty="0"/>
              <a:t>crecimiento explosivo del volumen de datos </a:t>
            </a:r>
            <a:r>
              <a:rPr lang="es-ES" dirty="0"/>
              <a:t>disponibles es resultado de la informatización de nuestra sociedad y del </a:t>
            </a:r>
            <a:r>
              <a:rPr lang="es-ES" b="1" dirty="0"/>
              <a:t>rápido desarrollo </a:t>
            </a:r>
            <a:r>
              <a:rPr lang="es-ES" dirty="0"/>
              <a:t>de potentes sistemas informáticos, sensores y herramientas de recopilación, almacenamiento y publicación de datos.</a:t>
            </a:r>
          </a:p>
          <a:p>
            <a:pPr algn="just"/>
            <a:endParaRPr lang="es-ES" dirty="0"/>
          </a:p>
          <a:p>
            <a:pPr algn="just"/>
            <a:r>
              <a:rPr lang="es-ES" dirty="0"/>
              <a:t>Miles de millones de búsquedas en la Web respaldados por los motores de búsqueda procesan decenas de </a:t>
            </a:r>
            <a:r>
              <a:rPr lang="es-ES" b="1" dirty="0" err="1"/>
              <a:t>petabytes</a:t>
            </a:r>
            <a:r>
              <a:rPr lang="es-ES" dirty="0"/>
              <a:t> de datos diariamente. </a:t>
            </a:r>
            <a:r>
              <a:rPr lang="es-ES" b="1" dirty="0"/>
              <a:t>Las herramientas de las redes sociales</a:t>
            </a:r>
            <a:r>
              <a:rPr lang="es-ES" dirty="0"/>
              <a:t> se han convertido cada vez más popular, produciendo una enorme cantidad de textos, imágenes y videos, generando diversos tipos de comunidades web y redes sociales.</a:t>
            </a:r>
            <a:endParaRPr lang="es-CL" dirty="0"/>
          </a:p>
        </p:txBody>
      </p:sp>
      <p:pic>
        <p:nvPicPr>
          <p:cNvPr id="3" name="Imagen 2">
            <a:extLst>
              <a:ext uri="{FF2B5EF4-FFF2-40B4-BE49-F238E27FC236}">
                <a16:creationId xmlns:a16="http://schemas.microsoft.com/office/drawing/2014/main" id="{4D87EEFF-C1A9-C5A4-47CD-E058CD43FCB1}"/>
              </a:ext>
            </a:extLst>
          </p:cNvPr>
          <p:cNvPicPr>
            <a:picLocks noChangeAspect="1"/>
          </p:cNvPicPr>
          <p:nvPr/>
        </p:nvPicPr>
        <p:blipFill>
          <a:blip r:embed="rId3"/>
          <a:stretch>
            <a:fillRect/>
          </a:stretch>
        </p:blipFill>
        <p:spPr>
          <a:xfrm>
            <a:off x="7170507" y="2064783"/>
            <a:ext cx="4078361" cy="2297668"/>
          </a:xfrm>
          <a:prstGeom prst="rect">
            <a:avLst/>
          </a:prstGeom>
        </p:spPr>
      </p:pic>
      <p:sp>
        <p:nvSpPr>
          <p:cNvPr id="4" name="CuadroTexto 3">
            <a:extLst>
              <a:ext uri="{FF2B5EF4-FFF2-40B4-BE49-F238E27FC236}">
                <a16:creationId xmlns:a16="http://schemas.microsoft.com/office/drawing/2014/main" id="{C5E2BDC0-14F5-E6B6-9611-546AEC38D2D8}"/>
              </a:ext>
            </a:extLst>
          </p:cNvPr>
          <p:cNvSpPr txBox="1"/>
          <p:nvPr/>
        </p:nvSpPr>
        <p:spPr>
          <a:xfrm>
            <a:off x="3089275" y="5889307"/>
            <a:ext cx="3873176" cy="246221"/>
          </a:xfrm>
          <a:prstGeom prst="rect">
            <a:avLst/>
          </a:prstGeom>
          <a:noFill/>
        </p:spPr>
        <p:txBody>
          <a:bodyPr wrap="none" rtlCol="0">
            <a:spAutoFit/>
          </a:bodyPr>
          <a:lstStyle/>
          <a:p>
            <a:r>
              <a:rPr lang="es-CL" sz="1000" dirty="0"/>
              <a:t>Fuente: Data </a:t>
            </a:r>
            <a:r>
              <a:rPr lang="es-CL" sz="1000" dirty="0" err="1"/>
              <a:t>Mining</a:t>
            </a:r>
            <a:r>
              <a:rPr lang="es-CL" sz="1000" dirty="0"/>
              <a:t> </a:t>
            </a:r>
            <a:r>
              <a:rPr lang="es-CL" sz="1000" dirty="0" err="1"/>
              <a:t>Concepts</a:t>
            </a:r>
            <a:r>
              <a:rPr lang="es-CL" sz="1000" dirty="0"/>
              <a:t> and </a:t>
            </a:r>
            <a:r>
              <a:rPr lang="es-CL" sz="1000" dirty="0" err="1"/>
              <a:t>Techniques</a:t>
            </a:r>
            <a:r>
              <a:rPr lang="es-CL" sz="1000" dirty="0"/>
              <a:t>. </a:t>
            </a:r>
            <a:r>
              <a:rPr lang="es-CL" sz="1000" dirty="0" err="1"/>
              <a:t>Jiawei</a:t>
            </a:r>
            <a:r>
              <a:rPr lang="es-CL" sz="1000" dirty="0"/>
              <a:t> Han y otros. </a:t>
            </a:r>
          </a:p>
        </p:txBody>
      </p:sp>
      <p:sp>
        <p:nvSpPr>
          <p:cNvPr id="7" name="Rectángulo 6">
            <a:extLst>
              <a:ext uri="{FF2B5EF4-FFF2-40B4-BE49-F238E27FC236}">
                <a16:creationId xmlns:a16="http://schemas.microsoft.com/office/drawing/2014/main" id="{DA1D4FA5-A42F-802B-E615-D4913CD07C9A}"/>
              </a:ext>
            </a:extLst>
          </p:cNvPr>
          <p:cNvSpPr/>
          <p:nvPr/>
        </p:nvSpPr>
        <p:spPr>
          <a:xfrm>
            <a:off x="-9525" y="428625"/>
            <a:ext cx="390525" cy="54463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227993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41513-FCFE-0DCA-513D-8CB9B55C09C2}"/>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3476F528-A6BC-BE1E-3796-019C3134A7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6012418"/>
            <a:ext cx="1638300" cy="610990"/>
          </a:xfrm>
          <a:prstGeom prst="rect">
            <a:avLst/>
          </a:prstGeom>
        </p:spPr>
      </p:pic>
      <p:sp>
        <p:nvSpPr>
          <p:cNvPr id="6" name="CuadroTexto 5">
            <a:extLst>
              <a:ext uri="{FF2B5EF4-FFF2-40B4-BE49-F238E27FC236}">
                <a16:creationId xmlns:a16="http://schemas.microsoft.com/office/drawing/2014/main" id="{F57B1D4E-B79C-2832-DD5C-9BC9AB94639F}"/>
              </a:ext>
            </a:extLst>
          </p:cNvPr>
          <p:cNvSpPr txBox="1"/>
          <p:nvPr/>
        </p:nvSpPr>
        <p:spPr>
          <a:xfrm>
            <a:off x="771525" y="1514475"/>
            <a:ext cx="184731" cy="369332"/>
          </a:xfrm>
          <a:prstGeom prst="rect">
            <a:avLst/>
          </a:prstGeom>
          <a:noFill/>
        </p:spPr>
        <p:txBody>
          <a:bodyPr wrap="none" rtlCol="0">
            <a:spAutoFit/>
          </a:bodyPr>
          <a:lstStyle/>
          <a:p>
            <a:endParaRPr lang="es-CL" dirty="0"/>
          </a:p>
        </p:txBody>
      </p:sp>
      <p:grpSp>
        <p:nvGrpSpPr>
          <p:cNvPr id="8" name="Grupo 7">
            <a:extLst>
              <a:ext uri="{FF2B5EF4-FFF2-40B4-BE49-F238E27FC236}">
                <a16:creationId xmlns:a16="http://schemas.microsoft.com/office/drawing/2014/main" id="{A2C5118D-1F10-C38B-96FD-D409BB540610}"/>
              </a:ext>
            </a:extLst>
          </p:cNvPr>
          <p:cNvGrpSpPr/>
          <p:nvPr/>
        </p:nvGrpSpPr>
        <p:grpSpPr>
          <a:xfrm>
            <a:off x="0" y="0"/>
            <a:ext cx="10351064" cy="180000"/>
            <a:chOff x="1524000" y="6280030"/>
            <a:chExt cx="10351064" cy="180000"/>
          </a:xfrm>
        </p:grpSpPr>
        <p:sp>
          <p:nvSpPr>
            <p:cNvPr id="9" name="Rectángulo 8">
              <a:extLst>
                <a:ext uri="{FF2B5EF4-FFF2-40B4-BE49-F238E27FC236}">
                  <a16:creationId xmlns:a16="http://schemas.microsoft.com/office/drawing/2014/main" id="{9A4CFA4D-9D08-D0C5-69B1-5256295EFD35}"/>
                </a:ext>
              </a:extLst>
            </p:cNvPr>
            <p:cNvSpPr/>
            <p:nvPr/>
          </p:nvSpPr>
          <p:spPr>
            <a:xfrm>
              <a:off x="1524000" y="6280030"/>
              <a:ext cx="2232000" cy="180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457B482B-956C-76AB-9385-5341F93E3889}"/>
                </a:ext>
              </a:extLst>
            </p:cNvPr>
            <p:cNvSpPr/>
            <p:nvPr/>
          </p:nvSpPr>
          <p:spPr>
            <a:xfrm>
              <a:off x="3787800" y="6280030"/>
              <a:ext cx="4027732" cy="180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59349415-978B-7999-EB9E-3A8041330FB4}"/>
                </a:ext>
              </a:extLst>
            </p:cNvPr>
            <p:cNvSpPr/>
            <p:nvPr/>
          </p:nvSpPr>
          <p:spPr>
            <a:xfrm>
              <a:off x="7847332" y="6280030"/>
              <a:ext cx="4027732" cy="180000"/>
            </a:xfrm>
            <a:prstGeom prst="rect">
              <a:avLst/>
            </a:prstGeom>
            <a:solidFill>
              <a:srgbClr val="FF9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sp>
        <p:nvSpPr>
          <p:cNvPr id="16" name="Título 1">
            <a:extLst>
              <a:ext uri="{FF2B5EF4-FFF2-40B4-BE49-F238E27FC236}">
                <a16:creationId xmlns:a16="http://schemas.microsoft.com/office/drawing/2014/main" id="{244C8007-A6D2-017B-EB94-9EF29CE7E1A8}"/>
              </a:ext>
            </a:extLst>
          </p:cNvPr>
          <p:cNvSpPr txBox="1">
            <a:spLocks/>
          </p:cNvSpPr>
          <p:nvPr/>
        </p:nvSpPr>
        <p:spPr>
          <a:xfrm>
            <a:off x="0" y="234592"/>
            <a:ext cx="3856779" cy="73866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CL" sz="3200" b="1" dirty="0"/>
              <a:t>INTRODUCCIÓN</a:t>
            </a:r>
          </a:p>
        </p:txBody>
      </p:sp>
      <p:sp>
        <p:nvSpPr>
          <p:cNvPr id="2" name="CuadroTexto 1">
            <a:extLst>
              <a:ext uri="{FF2B5EF4-FFF2-40B4-BE49-F238E27FC236}">
                <a16:creationId xmlns:a16="http://schemas.microsoft.com/office/drawing/2014/main" id="{39BA7404-DD74-BEDB-2B4E-CDFA138AF3F1}"/>
              </a:ext>
            </a:extLst>
          </p:cNvPr>
          <p:cNvSpPr txBox="1"/>
          <p:nvPr/>
        </p:nvSpPr>
        <p:spPr>
          <a:xfrm>
            <a:off x="771525" y="2111872"/>
            <a:ext cx="5788025" cy="2862322"/>
          </a:xfrm>
          <a:prstGeom prst="rect">
            <a:avLst/>
          </a:prstGeom>
          <a:noFill/>
        </p:spPr>
        <p:txBody>
          <a:bodyPr wrap="square" rtlCol="0">
            <a:spAutoFit/>
          </a:bodyPr>
          <a:lstStyle/>
          <a:p>
            <a:pPr algn="just"/>
            <a:r>
              <a:rPr lang="es-ES" dirty="0"/>
              <a:t>Esencialmente, la minería de datos </a:t>
            </a:r>
            <a:r>
              <a:rPr lang="es-ES" b="1" dirty="0"/>
              <a:t>es el proceso de descubrir patrones, modelos y otras clases de  conocimiento a partir de  grandes conjuntos de datos</a:t>
            </a:r>
            <a:r>
              <a:rPr lang="es-ES" dirty="0"/>
              <a:t>.</a:t>
            </a:r>
          </a:p>
          <a:p>
            <a:pPr algn="just"/>
            <a:endParaRPr lang="es-ES" dirty="0"/>
          </a:p>
          <a:p>
            <a:pPr algn="just"/>
            <a:r>
              <a:rPr lang="es-ES" dirty="0"/>
              <a:t>El término minería de datos, apareció en la década de 1990. </a:t>
            </a:r>
          </a:p>
          <a:p>
            <a:pPr algn="just"/>
            <a:endParaRPr lang="es-ES" dirty="0"/>
          </a:p>
          <a:p>
            <a:pPr algn="just"/>
            <a:r>
              <a:rPr lang="es-ES" dirty="0"/>
              <a:t>Aunque lo correcto sería decir “minería del conocimiento a partir de datos”, el nombre de esta disciplina se popularizó como </a:t>
            </a:r>
            <a:r>
              <a:rPr lang="es-ES" b="1" dirty="0"/>
              <a:t>Minería de Datos</a:t>
            </a:r>
            <a:r>
              <a:rPr lang="es-ES" dirty="0"/>
              <a:t>.</a:t>
            </a:r>
            <a:endParaRPr lang="es-CL" dirty="0"/>
          </a:p>
        </p:txBody>
      </p:sp>
      <p:pic>
        <p:nvPicPr>
          <p:cNvPr id="4" name="Imagen 3">
            <a:extLst>
              <a:ext uri="{FF2B5EF4-FFF2-40B4-BE49-F238E27FC236}">
                <a16:creationId xmlns:a16="http://schemas.microsoft.com/office/drawing/2014/main" id="{2191FF5D-8A13-8CB1-DD04-220CFF29617E}"/>
              </a:ext>
            </a:extLst>
          </p:cNvPr>
          <p:cNvPicPr>
            <a:picLocks noChangeAspect="1"/>
          </p:cNvPicPr>
          <p:nvPr/>
        </p:nvPicPr>
        <p:blipFill>
          <a:blip r:embed="rId3"/>
          <a:srcRect b="9980"/>
          <a:stretch>
            <a:fillRect/>
          </a:stretch>
        </p:blipFill>
        <p:spPr>
          <a:xfrm>
            <a:off x="7194550" y="1378982"/>
            <a:ext cx="4359877" cy="4145518"/>
          </a:xfrm>
          <a:prstGeom prst="rect">
            <a:avLst/>
          </a:prstGeom>
        </p:spPr>
      </p:pic>
      <p:sp>
        <p:nvSpPr>
          <p:cNvPr id="7" name="Rectángulo 6">
            <a:extLst>
              <a:ext uri="{FF2B5EF4-FFF2-40B4-BE49-F238E27FC236}">
                <a16:creationId xmlns:a16="http://schemas.microsoft.com/office/drawing/2014/main" id="{F25CB74E-94C4-49AC-91CB-A2D460EFEE5C}"/>
              </a:ext>
            </a:extLst>
          </p:cNvPr>
          <p:cNvSpPr/>
          <p:nvPr/>
        </p:nvSpPr>
        <p:spPr>
          <a:xfrm>
            <a:off x="-9525" y="428625"/>
            <a:ext cx="390525" cy="54463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838782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91F01-39F7-C5BE-3F92-0DAB36D587F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824A4A80-9828-C761-6DBA-FB4AA9C40A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6012418"/>
            <a:ext cx="1638300" cy="610990"/>
          </a:xfrm>
          <a:prstGeom prst="rect">
            <a:avLst/>
          </a:prstGeom>
        </p:spPr>
      </p:pic>
      <p:sp>
        <p:nvSpPr>
          <p:cNvPr id="6" name="CuadroTexto 5">
            <a:extLst>
              <a:ext uri="{FF2B5EF4-FFF2-40B4-BE49-F238E27FC236}">
                <a16:creationId xmlns:a16="http://schemas.microsoft.com/office/drawing/2014/main" id="{28F92F56-07DC-58D5-5E3B-0DC3CC24345C}"/>
              </a:ext>
            </a:extLst>
          </p:cNvPr>
          <p:cNvSpPr txBox="1"/>
          <p:nvPr/>
        </p:nvSpPr>
        <p:spPr>
          <a:xfrm>
            <a:off x="771525" y="1514475"/>
            <a:ext cx="184731" cy="369332"/>
          </a:xfrm>
          <a:prstGeom prst="rect">
            <a:avLst/>
          </a:prstGeom>
          <a:noFill/>
        </p:spPr>
        <p:txBody>
          <a:bodyPr wrap="none" rtlCol="0">
            <a:spAutoFit/>
          </a:bodyPr>
          <a:lstStyle/>
          <a:p>
            <a:endParaRPr lang="es-CL" dirty="0"/>
          </a:p>
        </p:txBody>
      </p:sp>
      <p:grpSp>
        <p:nvGrpSpPr>
          <p:cNvPr id="8" name="Grupo 7">
            <a:extLst>
              <a:ext uri="{FF2B5EF4-FFF2-40B4-BE49-F238E27FC236}">
                <a16:creationId xmlns:a16="http://schemas.microsoft.com/office/drawing/2014/main" id="{06F08368-A49B-B6B7-DCDB-F8DB60549CF6}"/>
              </a:ext>
            </a:extLst>
          </p:cNvPr>
          <p:cNvGrpSpPr/>
          <p:nvPr/>
        </p:nvGrpSpPr>
        <p:grpSpPr>
          <a:xfrm>
            <a:off x="0" y="0"/>
            <a:ext cx="10351064" cy="180000"/>
            <a:chOff x="1524000" y="6280030"/>
            <a:chExt cx="10351064" cy="180000"/>
          </a:xfrm>
        </p:grpSpPr>
        <p:sp>
          <p:nvSpPr>
            <p:cNvPr id="9" name="Rectángulo 8">
              <a:extLst>
                <a:ext uri="{FF2B5EF4-FFF2-40B4-BE49-F238E27FC236}">
                  <a16:creationId xmlns:a16="http://schemas.microsoft.com/office/drawing/2014/main" id="{3163259F-6DF6-C24E-F007-83CA5B7F1987}"/>
                </a:ext>
              </a:extLst>
            </p:cNvPr>
            <p:cNvSpPr/>
            <p:nvPr/>
          </p:nvSpPr>
          <p:spPr>
            <a:xfrm>
              <a:off x="1524000" y="6280030"/>
              <a:ext cx="2232000" cy="180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44C4E056-2186-A384-85C5-36BDB88DD194}"/>
                </a:ext>
              </a:extLst>
            </p:cNvPr>
            <p:cNvSpPr/>
            <p:nvPr/>
          </p:nvSpPr>
          <p:spPr>
            <a:xfrm>
              <a:off x="3787800" y="6280030"/>
              <a:ext cx="4027732" cy="180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629A1482-23F4-9A4A-6DF7-61666B958E82}"/>
                </a:ext>
              </a:extLst>
            </p:cNvPr>
            <p:cNvSpPr/>
            <p:nvPr/>
          </p:nvSpPr>
          <p:spPr>
            <a:xfrm>
              <a:off x="7847332" y="6280030"/>
              <a:ext cx="4027732" cy="180000"/>
            </a:xfrm>
            <a:prstGeom prst="rect">
              <a:avLst/>
            </a:prstGeom>
            <a:solidFill>
              <a:srgbClr val="FF9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sp>
        <p:nvSpPr>
          <p:cNvPr id="16" name="Título 1">
            <a:extLst>
              <a:ext uri="{FF2B5EF4-FFF2-40B4-BE49-F238E27FC236}">
                <a16:creationId xmlns:a16="http://schemas.microsoft.com/office/drawing/2014/main" id="{38C75C61-6834-1843-BAB5-5FB2C9466EDE}"/>
              </a:ext>
            </a:extLst>
          </p:cNvPr>
          <p:cNvSpPr txBox="1">
            <a:spLocks/>
          </p:cNvSpPr>
          <p:nvPr/>
        </p:nvSpPr>
        <p:spPr>
          <a:xfrm>
            <a:off x="0" y="234592"/>
            <a:ext cx="3856779" cy="73866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CL" sz="3200" b="1" dirty="0"/>
              <a:t>INTRODUCCIÓN</a:t>
            </a:r>
          </a:p>
        </p:txBody>
      </p:sp>
      <p:sp>
        <p:nvSpPr>
          <p:cNvPr id="2" name="CuadroTexto 1">
            <a:extLst>
              <a:ext uri="{FF2B5EF4-FFF2-40B4-BE49-F238E27FC236}">
                <a16:creationId xmlns:a16="http://schemas.microsoft.com/office/drawing/2014/main" id="{00D43FE2-924E-B65C-751C-BE5FB1A466B7}"/>
              </a:ext>
            </a:extLst>
          </p:cNvPr>
          <p:cNvSpPr txBox="1"/>
          <p:nvPr/>
        </p:nvSpPr>
        <p:spPr>
          <a:xfrm>
            <a:off x="771525" y="1582340"/>
            <a:ext cx="5788025" cy="3693319"/>
          </a:xfrm>
          <a:prstGeom prst="rect">
            <a:avLst/>
          </a:prstGeom>
          <a:noFill/>
        </p:spPr>
        <p:txBody>
          <a:bodyPr wrap="square" rtlCol="0">
            <a:spAutoFit/>
          </a:bodyPr>
          <a:lstStyle/>
          <a:p>
            <a:pPr algn="just"/>
            <a:r>
              <a:rPr lang="es-ES" dirty="0"/>
              <a:t>Aunque las organizaciones tienen muchos datos que han ido almacenando durante años, no necesariamente son lo suficientemente rápidas para descubrir conocimiento en dichos datos y así, utilizar dicho conocimiento para llevar a cabo mejores acciones en su quehacer.</a:t>
            </a:r>
          </a:p>
          <a:p>
            <a:pPr algn="just"/>
            <a:endParaRPr lang="es-ES" dirty="0"/>
          </a:p>
          <a:p>
            <a:pPr algn="just"/>
            <a:r>
              <a:rPr lang="es-ES" dirty="0"/>
              <a:t>La minería de datos </a:t>
            </a:r>
            <a:r>
              <a:rPr lang="es-ES" b="1" dirty="0"/>
              <a:t>no obtiene información extensional (datos) sino intensional (conocimiento)</a:t>
            </a:r>
          </a:p>
          <a:p>
            <a:pPr algn="just"/>
            <a:r>
              <a:rPr lang="es-ES" dirty="0"/>
              <a:t>y, además, este conocimiento no es, generalmente, una parametrización de ningún modelo preestablecido o intuido por el usuario, sino que </a:t>
            </a:r>
            <a:r>
              <a:rPr lang="es-ES" b="1" dirty="0"/>
              <a:t>es un modelo novedoso y original, extraído completamente a través de diversas técnicas y herramientas</a:t>
            </a:r>
            <a:r>
              <a:rPr lang="es-ES" dirty="0"/>
              <a:t>.</a:t>
            </a:r>
            <a:endParaRPr lang="es-CL" dirty="0"/>
          </a:p>
        </p:txBody>
      </p:sp>
      <p:pic>
        <p:nvPicPr>
          <p:cNvPr id="3" name="Imagen 2">
            <a:extLst>
              <a:ext uri="{FF2B5EF4-FFF2-40B4-BE49-F238E27FC236}">
                <a16:creationId xmlns:a16="http://schemas.microsoft.com/office/drawing/2014/main" id="{D5AC935C-5D46-F470-28DD-458A94286C7A}"/>
              </a:ext>
            </a:extLst>
          </p:cNvPr>
          <p:cNvPicPr>
            <a:picLocks noChangeAspect="1"/>
          </p:cNvPicPr>
          <p:nvPr/>
        </p:nvPicPr>
        <p:blipFill>
          <a:blip r:embed="rId3"/>
          <a:stretch>
            <a:fillRect/>
          </a:stretch>
        </p:blipFill>
        <p:spPr>
          <a:xfrm>
            <a:off x="7502443" y="1582340"/>
            <a:ext cx="4109197" cy="3980260"/>
          </a:xfrm>
          <a:prstGeom prst="rect">
            <a:avLst/>
          </a:prstGeom>
        </p:spPr>
      </p:pic>
      <p:sp>
        <p:nvSpPr>
          <p:cNvPr id="7" name="Rectángulo 6">
            <a:extLst>
              <a:ext uri="{FF2B5EF4-FFF2-40B4-BE49-F238E27FC236}">
                <a16:creationId xmlns:a16="http://schemas.microsoft.com/office/drawing/2014/main" id="{679EFFDA-973E-7CC4-8A64-85EDB2368D42}"/>
              </a:ext>
            </a:extLst>
          </p:cNvPr>
          <p:cNvSpPr/>
          <p:nvPr/>
        </p:nvSpPr>
        <p:spPr>
          <a:xfrm>
            <a:off x="-9525" y="428625"/>
            <a:ext cx="390525" cy="54463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845842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DADDE-A40E-DA70-CBA0-AA302167771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598A452-A946-75C7-725F-9E0FB496C9DC}"/>
              </a:ext>
            </a:extLst>
          </p:cNvPr>
          <p:cNvSpPr txBox="1">
            <a:spLocks/>
          </p:cNvSpPr>
          <p:nvPr/>
        </p:nvSpPr>
        <p:spPr>
          <a:xfrm>
            <a:off x="1116000" y="5302250"/>
            <a:ext cx="10134600" cy="1015663"/>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s-CL" sz="6600" dirty="0"/>
              <a:t>DISCIPLINAS INVOLUCRADAS</a:t>
            </a:r>
          </a:p>
        </p:txBody>
      </p:sp>
      <p:sp>
        <p:nvSpPr>
          <p:cNvPr id="3" name="Título 1">
            <a:extLst>
              <a:ext uri="{FF2B5EF4-FFF2-40B4-BE49-F238E27FC236}">
                <a16:creationId xmlns:a16="http://schemas.microsoft.com/office/drawing/2014/main" id="{14EA368D-45F4-6351-F16E-F4A717A39638}"/>
              </a:ext>
            </a:extLst>
          </p:cNvPr>
          <p:cNvSpPr txBox="1">
            <a:spLocks/>
          </p:cNvSpPr>
          <p:nvPr/>
        </p:nvSpPr>
        <p:spPr>
          <a:xfrm>
            <a:off x="9292981" y="3824922"/>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r"/>
            <a:r>
              <a:rPr lang="es-CL" sz="9600" dirty="0">
                <a:latin typeface="Arial Black" panose="020B0604020202020204" pitchFamily="34" charset="0"/>
                <a:cs typeface="Arial Black" panose="020B0604020202020204" pitchFamily="34" charset="0"/>
              </a:rPr>
              <a:t>02</a:t>
            </a:r>
          </a:p>
        </p:txBody>
      </p:sp>
      <p:sp>
        <p:nvSpPr>
          <p:cNvPr id="6" name="CuadroTexto 5">
            <a:extLst>
              <a:ext uri="{FF2B5EF4-FFF2-40B4-BE49-F238E27FC236}">
                <a16:creationId xmlns:a16="http://schemas.microsoft.com/office/drawing/2014/main" id="{26A1A1B0-ACBC-1C39-BCA5-FA5196575208}"/>
              </a:ext>
            </a:extLst>
          </p:cNvPr>
          <p:cNvSpPr txBox="1"/>
          <p:nvPr/>
        </p:nvSpPr>
        <p:spPr>
          <a:xfrm>
            <a:off x="771525" y="1514475"/>
            <a:ext cx="184731" cy="369332"/>
          </a:xfrm>
          <a:prstGeom prst="rect">
            <a:avLst/>
          </a:prstGeom>
          <a:noFill/>
        </p:spPr>
        <p:txBody>
          <a:bodyPr wrap="none" rtlCol="0">
            <a:spAutoFit/>
          </a:bodyPr>
          <a:lstStyle/>
          <a:p>
            <a:endParaRPr lang="es-CL" dirty="0"/>
          </a:p>
        </p:txBody>
      </p:sp>
      <p:grpSp>
        <p:nvGrpSpPr>
          <p:cNvPr id="8" name="Grupo 7">
            <a:extLst>
              <a:ext uri="{FF2B5EF4-FFF2-40B4-BE49-F238E27FC236}">
                <a16:creationId xmlns:a16="http://schemas.microsoft.com/office/drawing/2014/main" id="{7FE65E34-2F41-61A3-D8D3-B728EE016146}"/>
              </a:ext>
            </a:extLst>
          </p:cNvPr>
          <p:cNvGrpSpPr/>
          <p:nvPr/>
        </p:nvGrpSpPr>
        <p:grpSpPr>
          <a:xfrm>
            <a:off x="0" y="0"/>
            <a:ext cx="10351064" cy="180000"/>
            <a:chOff x="1524000" y="6280030"/>
            <a:chExt cx="10351064" cy="180000"/>
          </a:xfrm>
        </p:grpSpPr>
        <p:sp>
          <p:nvSpPr>
            <p:cNvPr id="9" name="Rectángulo 8">
              <a:extLst>
                <a:ext uri="{FF2B5EF4-FFF2-40B4-BE49-F238E27FC236}">
                  <a16:creationId xmlns:a16="http://schemas.microsoft.com/office/drawing/2014/main" id="{102D14F3-612A-5465-A52F-AD0D4C507A03}"/>
                </a:ext>
              </a:extLst>
            </p:cNvPr>
            <p:cNvSpPr/>
            <p:nvPr/>
          </p:nvSpPr>
          <p:spPr>
            <a:xfrm>
              <a:off x="1524000" y="6280030"/>
              <a:ext cx="2232000" cy="180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1C2FE712-26E6-7CCD-5B54-23AC22F4FDEA}"/>
                </a:ext>
              </a:extLst>
            </p:cNvPr>
            <p:cNvSpPr/>
            <p:nvPr/>
          </p:nvSpPr>
          <p:spPr>
            <a:xfrm>
              <a:off x="3787800" y="6280030"/>
              <a:ext cx="4027732" cy="180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0A5D1DDF-7E91-068D-813C-787789B37078}"/>
                </a:ext>
              </a:extLst>
            </p:cNvPr>
            <p:cNvSpPr/>
            <p:nvPr/>
          </p:nvSpPr>
          <p:spPr>
            <a:xfrm>
              <a:off x="7847332" y="6280030"/>
              <a:ext cx="4027732" cy="180000"/>
            </a:xfrm>
            <a:prstGeom prst="rect">
              <a:avLst/>
            </a:prstGeom>
            <a:solidFill>
              <a:srgbClr val="FF9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spTree>
    <p:extLst>
      <p:ext uri="{BB962C8B-B14F-4D97-AF65-F5344CB8AC3E}">
        <p14:creationId xmlns:p14="http://schemas.microsoft.com/office/powerpoint/2010/main" val="1365531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0302D-8516-70C0-480F-05836D3575A3}"/>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1A8B2EF8-98A6-9F04-DD6F-2CB3694CCB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6012418"/>
            <a:ext cx="1638300" cy="610990"/>
          </a:xfrm>
          <a:prstGeom prst="rect">
            <a:avLst/>
          </a:prstGeom>
        </p:spPr>
      </p:pic>
      <p:sp>
        <p:nvSpPr>
          <p:cNvPr id="6" name="CuadroTexto 5">
            <a:extLst>
              <a:ext uri="{FF2B5EF4-FFF2-40B4-BE49-F238E27FC236}">
                <a16:creationId xmlns:a16="http://schemas.microsoft.com/office/drawing/2014/main" id="{8A31834B-16C9-0E61-7EA8-03713A6F45D4}"/>
              </a:ext>
            </a:extLst>
          </p:cNvPr>
          <p:cNvSpPr txBox="1"/>
          <p:nvPr/>
        </p:nvSpPr>
        <p:spPr>
          <a:xfrm>
            <a:off x="771525" y="1514475"/>
            <a:ext cx="184731" cy="369332"/>
          </a:xfrm>
          <a:prstGeom prst="rect">
            <a:avLst/>
          </a:prstGeom>
          <a:noFill/>
        </p:spPr>
        <p:txBody>
          <a:bodyPr wrap="none" rtlCol="0">
            <a:spAutoFit/>
          </a:bodyPr>
          <a:lstStyle/>
          <a:p>
            <a:endParaRPr lang="es-CL" dirty="0"/>
          </a:p>
        </p:txBody>
      </p:sp>
      <p:grpSp>
        <p:nvGrpSpPr>
          <p:cNvPr id="8" name="Grupo 7">
            <a:extLst>
              <a:ext uri="{FF2B5EF4-FFF2-40B4-BE49-F238E27FC236}">
                <a16:creationId xmlns:a16="http://schemas.microsoft.com/office/drawing/2014/main" id="{BF7386BD-DFA6-C6B7-2970-D370E8D0C596}"/>
              </a:ext>
            </a:extLst>
          </p:cNvPr>
          <p:cNvGrpSpPr/>
          <p:nvPr/>
        </p:nvGrpSpPr>
        <p:grpSpPr>
          <a:xfrm>
            <a:off x="1840936" y="0"/>
            <a:ext cx="10351064" cy="180000"/>
            <a:chOff x="1524000" y="6280030"/>
            <a:chExt cx="10351064" cy="180000"/>
          </a:xfrm>
        </p:grpSpPr>
        <p:sp>
          <p:nvSpPr>
            <p:cNvPr id="9" name="Rectángulo 8">
              <a:extLst>
                <a:ext uri="{FF2B5EF4-FFF2-40B4-BE49-F238E27FC236}">
                  <a16:creationId xmlns:a16="http://schemas.microsoft.com/office/drawing/2014/main" id="{7018D2BF-F474-BB6F-64DE-0C5C7F50C052}"/>
                </a:ext>
              </a:extLst>
            </p:cNvPr>
            <p:cNvSpPr/>
            <p:nvPr/>
          </p:nvSpPr>
          <p:spPr>
            <a:xfrm>
              <a:off x="1524000" y="6280030"/>
              <a:ext cx="2232000" cy="180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473F7EB3-2B70-19A7-C809-9D96ACADEBC3}"/>
                </a:ext>
              </a:extLst>
            </p:cNvPr>
            <p:cNvSpPr/>
            <p:nvPr/>
          </p:nvSpPr>
          <p:spPr>
            <a:xfrm>
              <a:off x="3787800" y="6280030"/>
              <a:ext cx="4027732" cy="180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A5EDB1F1-856D-CC4F-06F1-622FCDE68583}"/>
                </a:ext>
              </a:extLst>
            </p:cNvPr>
            <p:cNvSpPr/>
            <p:nvPr/>
          </p:nvSpPr>
          <p:spPr>
            <a:xfrm>
              <a:off x="7847332" y="6280030"/>
              <a:ext cx="4027732" cy="180000"/>
            </a:xfrm>
            <a:prstGeom prst="rect">
              <a:avLst/>
            </a:prstGeom>
            <a:solidFill>
              <a:srgbClr val="FF9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sp>
        <p:nvSpPr>
          <p:cNvPr id="16" name="Título 1">
            <a:extLst>
              <a:ext uri="{FF2B5EF4-FFF2-40B4-BE49-F238E27FC236}">
                <a16:creationId xmlns:a16="http://schemas.microsoft.com/office/drawing/2014/main" id="{27B20704-6F60-588E-FEFB-7C42F6F465E3}"/>
              </a:ext>
            </a:extLst>
          </p:cNvPr>
          <p:cNvSpPr txBox="1">
            <a:spLocks/>
          </p:cNvSpPr>
          <p:nvPr/>
        </p:nvSpPr>
        <p:spPr>
          <a:xfrm>
            <a:off x="6562725" y="596542"/>
            <a:ext cx="5285529" cy="738664"/>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CL" sz="3200" b="1" dirty="0"/>
              <a:t>DISCIPLINAS INVOLUCRADAS</a:t>
            </a:r>
          </a:p>
        </p:txBody>
      </p:sp>
      <p:sp>
        <p:nvSpPr>
          <p:cNvPr id="2" name="CuadroTexto 1">
            <a:extLst>
              <a:ext uri="{FF2B5EF4-FFF2-40B4-BE49-F238E27FC236}">
                <a16:creationId xmlns:a16="http://schemas.microsoft.com/office/drawing/2014/main" id="{283C6C44-34E6-326D-2375-C978804A653F}"/>
              </a:ext>
            </a:extLst>
          </p:cNvPr>
          <p:cNvSpPr txBox="1"/>
          <p:nvPr/>
        </p:nvSpPr>
        <p:spPr>
          <a:xfrm>
            <a:off x="956256" y="2589119"/>
            <a:ext cx="5139744" cy="1477328"/>
          </a:xfrm>
          <a:prstGeom prst="rect">
            <a:avLst/>
          </a:prstGeom>
          <a:noFill/>
        </p:spPr>
        <p:txBody>
          <a:bodyPr wrap="square" rtlCol="0">
            <a:spAutoFit/>
          </a:bodyPr>
          <a:lstStyle/>
          <a:p>
            <a:pPr algn="just"/>
            <a:r>
              <a:rPr lang="es-ES" dirty="0"/>
              <a:t>Como disciplina que estudia </a:t>
            </a:r>
            <a:r>
              <a:rPr lang="es-ES" b="1" dirty="0"/>
              <a:t>métodos eficientes y eficaces para descubrir patrones y conocimientos</a:t>
            </a:r>
            <a:r>
              <a:rPr lang="es-ES" dirty="0"/>
              <a:t>, a partir de varios tipos de conjuntos de datos masivos, la minería de datos convoca múltiples disciplinas.</a:t>
            </a:r>
            <a:endParaRPr lang="es-CL" dirty="0"/>
          </a:p>
        </p:txBody>
      </p:sp>
      <p:pic>
        <p:nvPicPr>
          <p:cNvPr id="3" name="Imagen 2">
            <a:extLst>
              <a:ext uri="{FF2B5EF4-FFF2-40B4-BE49-F238E27FC236}">
                <a16:creationId xmlns:a16="http://schemas.microsoft.com/office/drawing/2014/main" id="{982C7A53-0AF7-088A-5A1C-D13EC2E81A54}"/>
              </a:ext>
            </a:extLst>
          </p:cNvPr>
          <p:cNvPicPr>
            <a:picLocks noChangeAspect="1"/>
          </p:cNvPicPr>
          <p:nvPr/>
        </p:nvPicPr>
        <p:blipFill>
          <a:blip r:embed="rId3"/>
          <a:stretch>
            <a:fillRect/>
          </a:stretch>
        </p:blipFill>
        <p:spPr>
          <a:xfrm>
            <a:off x="6261501" y="1883807"/>
            <a:ext cx="5887976" cy="2887953"/>
          </a:xfrm>
          <a:prstGeom prst="rect">
            <a:avLst/>
          </a:prstGeom>
        </p:spPr>
      </p:pic>
      <p:sp>
        <p:nvSpPr>
          <p:cNvPr id="4" name="CuadroTexto 3">
            <a:extLst>
              <a:ext uri="{FF2B5EF4-FFF2-40B4-BE49-F238E27FC236}">
                <a16:creationId xmlns:a16="http://schemas.microsoft.com/office/drawing/2014/main" id="{A17EC98E-D03F-FB72-3361-27D704EADCF0}"/>
              </a:ext>
            </a:extLst>
          </p:cNvPr>
          <p:cNvSpPr txBox="1"/>
          <p:nvPr/>
        </p:nvSpPr>
        <p:spPr>
          <a:xfrm>
            <a:off x="3580603" y="6012418"/>
            <a:ext cx="3873176" cy="246221"/>
          </a:xfrm>
          <a:prstGeom prst="rect">
            <a:avLst/>
          </a:prstGeom>
          <a:noFill/>
        </p:spPr>
        <p:txBody>
          <a:bodyPr wrap="none" rtlCol="0">
            <a:spAutoFit/>
          </a:bodyPr>
          <a:lstStyle/>
          <a:p>
            <a:r>
              <a:rPr lang="es-CL" sz="1000" dirty="0"/>
              <a:t>Fuente: Data </a:t>
            </a:r>
            <a:r>
              <a:rPr lang="es-CL" sz="1000" dirty="0" err="1"/>
              <a:t>Mining</a:t>
            </a:r>
            <a:r>
              <a:rPr lang="es-CL" sz="1000" dirty="0"/>
              <a:t> </a:t>
            </a:r>
            <a:r>
              <a:rPr lang="es-CL" sz="1000" dirty="0" err="1"/>
              <a:t>Concepts</a:t>
            </a:r>
            <a:r>
              <a:rPr lang="es-CL" sz="1000" dirty="0"/>
              <a:t> and </a:t>
            </a:r>
            <a:r>
              <a:rPr lang="es-CL" sz="1000" dirty="0" err="1"/>
              <a:t>Techniques</a:t>
            </a:r>
            <a:r>
              <a:rPr lang="es-CL" sz="1000" dirty="0"/>
              <a:t>. </a:t>
            </a:r>
            <a:r>
              <a:rPr lang="es-CL" sz="1000" dirty="0" err="1"/>
              <a:t>Jiawei</a:t>
            </a:r>
            <a:r>
              <a:rPr lang="es-CL" sz="1000" dirty="0"/>
              <a:t> Han y otros. </a:t>
            </a:r>
          </a:p>
        </p:txBody>
      </p:sp>
      <p:sp>
        <p:nvSpPr>
          <p:cNvPr id="7" name="Rectángulo 6">
            <a:extLst>
              <a:ext uri="{FF2B5EF4-FFF2-40B4-BE49-F238E27FC236}">
                <a16:creationId xmlns:a16="http://schemas.microsoft.com/office/drawing/2014/main" id="{177C6AD8-F25D-1EE1-5F36-ABD3E1E098CD}"/>
              </a:ext>
            </a:extLst>
          </p:cNvPr>
          <p:cNvSpPr/>
          <p:nvPr/>
        </p:nvSpPr>
        <p:spPr>
          <a:xfrm>
            <a:off x="11816102" y="759588"/>
            <a:ext cx="390525" cy="54463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667660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2B2AE-1E8D-ECF5-9111-E1BE93089BD1}"/>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DA22CBC3-A3E0-BAC3-20F7-BA1A97545D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6012418"/>
            <a:ext cx="1638300" cy="610990"/>
          </a:xfrm>
          <a:prstGeom prst="rect">
            <a:avLst/>
          </a:prstGeom>
        </p:spPr>
      </p:pic>
      <p:sp>
        <p:nvSpPr>
          <p:cNvPr id="6" name="CuadroTexto 5">
            <a:extLst>
              <a:ext uri="{FF2B5EF4-FFF2-40B4-BE49-F238E27FC236}">
                <a16:creationId xmlns:a16="http://schemas.microsoft.com/office/drawing/2014/main" id="{307901C0-0412-828A-FE55-64BDD31DB948}"/>
              </a:ext>
            </a:extLst>
          </p:cNvPr>
          <p:cNvSpPr txBox="1"/>
          <p:nvPr/>
        </p:nvSpPr>
        <p:spPr>
          <a:xfrm>
            <a:off x="771525" y="1514475"/>
            <a:ext cx="184731" cy="369332"/>
          </a:xfrm>
          <a:prstGeom prst="rect">
            <a:avLst/>
          </a:prstGeom>
          <a:noFill/>
        </p:spPr>
        <p:txBody>
          <a:bodyPr wrap="none" rtlCol="0">
            <a:spAutoFit/>
          </a:bodyPr>
          <a:lstStyle/>
          <a:p>
            <a:endParaRPr lang="es-CL" dirty="0"/>
          </a:p>
        </p:txBody>
      </p:sp>
      <p:grpSp>
        <p:nvGrpSpPr>
          <p:cNvPr id="8" name="Grupo 7">
            <a:extLst>
              <a:ext uri="{FF2B5EF4-FFF2-40B4-BE49-F238E27FC236}">
                <a16:creationId xmlns:a16="http://schemas.microsoft.com/office/drawing/2014/main" id="{0ED806ED-B7CF-9A4A-ABE2-33E3B644F3FB}"/>
              </a:ext>
            </a:extLst>
          </p:cNvPr>
          <p:cNvGrpSpPr/>
          <p:nvPr/>
        </p:nvGrpSpPr>
        <p:grpSpPr>
          <a:xfrm>
            <a:off x="1840936" y="0"/>
            <a:ext cx="10351064" cy="180000"/>
            <a:chOff x="1524000" y="6280030"/>
            <a:chExt cx="10351064" cy="180000"/>
          </a:xfrm>
        </p:grpSpPr>
        <p:sp>
          <p:nvSpPr>
            <p:cNvPr id="9" name="Rectángulo 8">
              <a:extLst>
                <a:ext uri="{FF2B5EF4-FFF2-40B4-BE49-F238E27FC236}">
                  <a16:creationId xmlns:a16="http://schemas.microsoft.com/office/drawing/2014/main" id="{A4E14826-A560-D3A9-753D-47EED6EB30EA}"/>
                </a:ext>
              </a:extLst>
            </p:cNvPr>
            <p:cNvSpPr/>
            <p:nvPr/>
          </p:nvSpPr>
          <p:spPr>
            <a:xfrm>
              <a:off x="1524000" y="6280030"/>
              <a:ext cx="2232000" cy="180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FFC8CBE9-090A-D650-FCD2-0F88913C3DED}"/>
                </a:ext>
              </a:extLst>
            </p:cNvPr>
            <p:cNvSpPr/>
            <p:nvPr/>
          </p:nvSpPr>
          <p:spPr>
            <a:xfrm>
              <a:off x="3787800" y="6280030"/>
              <a:ext cx="4027732" cy="180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FD3FA06D-4819-E6CB-7B50-C9E354D8F70C}"/>
                </a:ext>
              </a:extLst>
            </p:cNvPr>
            <p:cNvSpPr/>
            <p:nvPr/>
          </p:nvSpPr>
          <p:spPr>
            <a:xfrm>
              <a:off x="7847332" y="6280030"/>
              <a:ext cx="4027732" cy="180000"/>
            </a:xfrm>
            <a:prstGeom prst="rect">
              <a:avLst/>
            </a:prstGeom>
            <a:solidFill>
              <a:srgbClr val="FF9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sp>
        <p:nvSpPr>
          <p:cNvPr id="16" name="Título 1">
            <a:extLst>
              <a:ext uri="{FF2B5EF4-FFF2-40B4-BE49-F238E27FC236}">
                <a16:creationId xmlns:a16="http://schemas.microsoft.com/office/drawing/2014/main" id="{473BCA55-780B-E458-9CE6-FAFB41C87369}"/>
              </a:ext>
            </a:extLst>
          </p:cNvPr>
          <p:cNvSpPr txBox="1">
            <a:spLocks/>
          </p:cNvSpPr>
          <p:nvPr/>
        </p:nvSpPr>
        <p:spPr>
          <a:xfrm>
            <a:off x="6562725" y="596542"/>
            <a:ext cx="5285529" cy="738664"/>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CL" sz="3200" b="1" dirty="0"/>
              <a:t>DISCIPLINAS INVOLUCRADAS</a:t>
            </a:r>
          </a:p>
        </p:txBody>
      </p:sp>
      <p:sp>
        <p:nvSpPr>
          <p:cNvPr id="7" name="CuadroTexto 6">
            <a:extLst>
              <a:ext uri="{FF2B5EF4-FFF2-40B4-BE49-F238E27FC236}">
                <a16:creationId xmlns:a16="http://schemas.microsoft.com/office/drawing/2014/main" id="{A0E24A2D-FF38-DA34-6562-284FAEDD5E17}"/>
              </a:ext>
            </a:extLst>
          </p:cNvPr>
          <p:cNvSpPr txBox="1"/>
          <p:nvPr/>
        </p:nvSpPr>
        <p:spPr>
          <a:xfrm>
            <a:off x="1085850" y="1335206"/>
            <a:ext cx="4968875" cy="4524315"/>
          </a:xfrm>
          <a:prstGeom prst="rect">
            <a:avLst/>
          </a:prstGeom>
          <a:noFill/>
        </p:spPr>
        <p:txBody>
          <a:bodyPr wrap="square" rtlCol="0">
            <a:spAutoFit/>
          </a:bodyPr>
          <a:lstStyle/>
          <a:p>
            <a:pPr algn="just"/>
            <a:r>
              <a:rPr lang="es-ES" b="1" dirty="0"/>
              <a:t>MINERÍA DE DATOS Y ESTADÍSTICA</a:t>
            </a:r>
            <a:r>
              <a:rPr lang="es-ES" dirty="0"/>
              <a:t>.</a:t>
            </a:r>
          </a:p>
          <a:p>
            <a:pPr algn="just"/>
            <a:endParaRPr lang="es-ES" dirty="0"/>
          </a:p>
          <a:p>
            <a:pPr algn="just"/>
            <a:r>
              <a:rPr lang="es-ES" dirty="0"/>
              <a:t>La estadística estudia la recopilación, el análisis, la interpretación o explicación y la presentación de datos.</a:t>
            </a:r>
          </a:p>
          <a:p>
            <a:pPr algn="just"/>
            <a:endParaRPr lang="es-ES" dirty="0"/>
          </a:p>
          <a:p>
            <a:pPr algn="just"/>
            <a:r>
              <a:rPr lang="es-ES" dirty="0"/>
              <a:t>La investigación estadística desarrolla </a:t>
            </a:r>
            <a:r>
              <a:rPr lang="es-ES" b="1" dirty="0"/>
              <a:t>herramientas de predicción y pronóstico</a:t>
            </a:r>
            <a:r>
              <a:rPr lang="es-ES" dirty="0"/>
              <a:t> utilizando datos y modelos estadísticos. Los métodos estadísticos se pueden utilizar para </a:t>
            </a:r>
            <a:r>
              <a:rPr lang="es-ES" b="1" dirty="0"/>
              <a:t>resumir o describir </a:t>
            </a:r>
            <a:r>
              <a:rPr lang="es-ES" dirty="0"/>
              <a:t>una colección de datos.</a:t>
            </a:r>
          </a:p>
          <a:p>
            <a:pPr algn="just"/>
            <a:endParaRPr lang="es-ES" dirty="0"/>
          </a:p>
          <a:p>
            <a:pPr algn="just"/>
            <a:r>
              <a:rPr lang="es-ES" dirty="0"/>
              <a:t>Las estadísticas son útiles para </a:t>
            </a:r>
            <a:r>
              <a:rPr lang="es-ES" b="1" dirty="0"/>
              <a:t>extraer varios patrones </a:t>
            </a:r>
            <a:r>
              <a:rPr lang="es-ES" dirty="0"/>
              <a:t>a partir de datos y para comprender los mecanismos subyacentes que generan y afectan los patrones.</a:t>
            </a:r>
            <a:endParaRPr lang="es-CL" dirty="0"/>
          </a:p>
        </p:txBody>
      </p:sp>
      <p:pic>
        <p:nvPicPr>
          <p:cNvPr id="10" name="Picture 2">
            <a:extLst>
              <a:ext uri="{FF2B5EF4-FFF2-40B4-BE49-F238E27FC236}">
                <a16:creationId xmlns:a16="http://schemas.microsoft.com/office/drawing/2014/main" id="{D7C13A94-0067-2A9A-28B6-864ABEC76C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9589" y="1751748"/>
            <a:ext cx="4871800" cy="3258968"/>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4284C371-388B-DD79-7345-795E5C8ECCB8}"/>
              </a:ext>
            </a:extLst>
          </p:cNvPr>
          <p:cNvSpPr txBox="1"/>
          <p:nvPr/>
        </p:nvSpPr>
        <p:spPr>
          <a:xfrm>
            <a:off x="3976196" y="6122174"/>
            <a:ext cx="3873176" cy="246221"/>
          </a:xfrm>
          <a:prstGeom prst="rect">
            <a:avLst/>
          </a:prstGeom>
          <a:noFill/>
        </p:spPr>
        <p:txBody>
          <a:bodyPr wrap="none" rtlCol="0">
            <a:spAutoFit/>
          </a:bodyPr>
          <a:lstStyle/>
          <a:p>
            <a:r>
              <a:rPr lang="es-CL" sz="1000" dirty="0"/>
              <a:t>Fuente: Data </a:t>
            </a:r>
            <a:r>
              <a:rPr lang="es-CL" sz="1000" dirty="0" err="1"/>
              <a:t>Mining</a:t>
            </a:r>
            <a:r>
              <a:rPr lang="es-CL" sz="1000" dirty="0"/>
              <a:t> </a:t>
            </a:r>
            <a:r>
              <a:rPr lang="es-CL" sz="1000" dirty="0" err="1"/>
              <a:t>Concepts</a:t>
            </a:r>
            <a:r>
              <a:rPr lang="es-CL" sz="1000" dirty="0"/>
              <a:t> and </a:t>
            </a:r>
            <a:r>
              <a:rPr lang="es-CL" sz="1000" dirty="0" err="1"/>
              <a:t>Techniques</a:t>
            </a:r>
            <a:r>
              <a:rPr lang="es-CL" sz="1000" dirty="0"/>
              <a:t>. </a:t>
            </a:r>
            <a:r>
              <a:rPr lang="es-CL" sz="1000" dirty="0" err="1"/>
              <a:t>Jiawei</a:t>
            </a:r>
            <a:r>
              <a:rPr lang="es-CL" sz="1000" dirty="0"/>
              <a:t> Han y otros. </a:t>
            </a:r>
          </a:p>
        </p:txBody>
      </p:sp>
      <p:sp>
        <p:nvSpPr>
          <p:cNvPr id="14" name="Rectángulo 13">
            <a:extLst>
              <a:ext uri="{FF2B5EF4-FFF2-40B4-BE49-F238E27FC236}">
                <a16:creationId xmlns:a16="http://schemas.microsoft.com/office/drawing/2014/main" id="{02EABD26-05D1-87EB-4C95-DB374C95EA49}"/>
              </a:ext>
            </a:extLst>
          </p:cNvPr>
          <p:cNvSpPr/>
          <p:nvPr/>
        </p:nvSpPr>
        <p:spPr>
          <a:xfrm>
            <a:off x="11816102" y="759588"/>
            <a:ext cx="390525" cy="54463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188893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FA7C0-0800-5DC0-4A41-3E7B80F65941}"/>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DD81EAE8-E2A2-86BD-074C-FD9F56B9A8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6012418"/>
            <a:ext cx="1638300" cy="610990"/>
          </a:xfrm>
          <a:prstGeom prst="rect">
            <a:avLst/>
          </a:prstGeom>
        </p:spPr>
      </p:pic>
      <p:sp>
        <p:nvSpPr>
          <p:cNvPr id="6" name="CuadroTexto 5">
            <a:extLst>
              <a:ext uri="{FF2B5EF4-FFF2-40B4-BE49-F238E27FC236}">
                <a16:creationId xmlns:a16="http://schemas.microsoft.com/office/drawing/2014/main" id="{02AEE246-ED01-953A-FEA5-4FA35A122F2E}"/>
              </a:ext>
            </a:extLst>
          </p:cNvPr>
          <p:cNvSpPr txBox="1"/>
          <p:nvPr/>
        </p:nvSpPr>
        <p:spPr>
          <a:xfrm>
            <a:off x="771525" y="1514475"/>
            <a:ext cx="184731" cy="369332"/>
          </a:xfrm>
          <a:prstGeom prst="rect">
            <a:avLst/>
          </a:prstGeom>
          <a:noFill/>
        </p:spPr>
        <p:txBody>
          <a:bodyPr wrap="none" rtlCol="0">
            <a:spAutoFit/>
          </a:bodyPr>
          <a:lstStyle/>
          <a:p>
            <a:endParaRPr lang="es-CL" dirty="0"/>
          </a:p>
        </p:txBody>
      </p:sp>
      <p:grpSp>
        <p:nvGrpSpPr>
          <p:cNvPr id="8" name="Grupo 7">
            <a:extLst>
              <a:ext uri="{FF2B5EF4-FFF2-40B4-BE49-F238E27FC236}">
                <a16:creationId xmlns:a16="http://schemas.microsoft.com/office/drawing/2014/main" id="{CFA969D6-AAF7-8091-39A8-296B65F658D9}"/>
              </a:ext>
            </a:extLst>
          </p:cNvPr>
          <p:cNvGrpSpPr/>
          <p:nvPr/>
        </p:nvGrpSpPr>
        <p:grpSpPr>
          <a:xfrm>
            <a:off x="1840936" y="0"/>
            <a:ext cx="10351064" cy="180000"/>
            <a:chOff x="1524000" y="6280030"/>
            <a:chExt cx="10351064" cy="180000"/>
          </a:xfrm>
        </p:grpSpPr>
        <p:sp>
          <p:nvSpPr>
            <p:cNvPr id="9" name="Rectángulo 8">
              <a:extLst>
                <a:ext uri="{FF2B5EF4-FFF2-40B4-BE49-F238E27FC236}">
                  <a16:creationId xmlns:a16="http://schemas.microsoft.com/office/drawing/2014/main" id="{D3304ED1-6CA5-F688-D84C-83C3B72617B9}"/>
                </a:ext>
              </a:extLst>
            </p:cNvPr>
            <p:cNvSpPr/>
            <p:nvPr/>
          </p:nvSpPr>
          <p:spPr>
            <a:xfrm>
              <a:off x="1524000" y="6280030"/>
              <a:ext cx="2232000" cy="180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7CF1F3B2-E295-4A33-C6B8-8DB9F09912E8}"/>
                </a:ext>
              </a:extLst>
            </p:cNvPr>
            <p:cNvSpPr/>
            <p:nvPr/>
          </p:nvSpPr>
          <p:spPr>
            <a:xfrm>
              <a:off x="3787800" y="6280030"/>
              <a:ext cx="4027732" cy="180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60A52506-B9B3-77D2-BE8E-92A98CC01713}"/>
                </a:ext>
              </a:extLst>
            </p:cNvPr>
            <p:cNvSpPr/>
            <p:nvPr/>
          </p:nvSpPr>
          <p:spPr>
            <a:xfrm>
              <a:off x="7847332" y="6280030"/>
              <a:ext cx="4027732" cy="180000"/>
            </a:xfrm>
            <a:prstGeom prst="rect">
              <a:avLst/>
            </a:prstGeom>
            <a:solidFill>
              <a:srgbClr val="FF9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sp>
        <p:nvSpPr>
          <p:cNvPr id="16" name="Título 1">
            <a:extLst>
              <a:ext uri="{FF2B5EF4-FFF2-40B4-BE49-F238E27FC236}">
                <a16:creationId xmlns:a16="http://schemas.microsoft.com/office/drawing/2014/main" id="{5A77CF96-C55D-82CB-B681-CC41AABC9C4F}"/>
              </a:ext>
            </a:extLst>
          </p:cNvPr>
          <p:cNvSpPr txBox="1">
            <a:spLocks/>
          </p:cNvSpPr>
          <p:nvPr/>
        </p:nvSpPr>
        <p:spPr>
          <a:xfrm>
            <a:off x="6562725" y="596542"/>
            <a:ext cx="5285529" cy="738664"/>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CL" sz="3200" b="1" dirty="0"/>
              <a:t>DISCIPLINAS INVOLUCRADAS</a:t>
            </a:r>
          </a:p>
        </p:txBody>
      </p:sp>
      <p:sp>
        <p:nvSpPr>
          <p:cNvPr id="12" name="CuadroTexto 11">
            <a:extLst>
              <a:ext uri="{FF2B5EF4-FFF2-40B4-BE49-F238E27FC236}">
                <a16:creationId xmlns:a16="http://schemas.microsoft.com/office/drawing/2014/main" id="{8185A676-8872-0C00-AB72-E289F98C9A85}"/>
              </a:ext>
            </a:extLst>
          </p:cNvPr>
          <p:cNvSpPr txBox="1"/>
          <p:nvPr/>
        </p:nvSpPr>
        <p:spPr>
          <a:xfrm>
            <a:off x="3976196" y="6122174"/>
            <a:ext cx="3873176" cy="246221"/>
          </a:xfrm>
          <a:prstGeom prst="rect">
            <a:avLst/>
          </a:prstGeom>
          <a:noFill/>
        </p:spPr>
        <p:txBody>
          <a:bodyPr wrap="none" rtlCol="0">
            <a:spAutoFit/>
          </a:bodyPr>
          <a:lstStyle/>
          <a:p>
            <a:r>
              <a:rPr lang="es-CL" sz="1000" dirty="0"/>
              <a:t>Fuente: Data </a:t>
            </a:r>
            <a:r>
              <a:rPr lang="es-CL" sz="1000" dirty="0" err="1"/>
              <a:t>Mining</a:t>
            </a:r>
            <a:r>
              <a:rPr lang="es-CL" sz="1000" dirty="0"/>
              <a:t> </a:t>
            </a:r>
            <a:r>
              <a:rPr lang="es-CL" sz="1000" dirty="0" err="1"/>
              <a:t>Concepts</a:t>
            </a:r>
            <a:r>
              <a:rPr lang="es-CL" sz="1000" dirty="0"/>
              <a:t> and </a:t>
            </a:r>
            <a:r>
              <a:rPr lang="es-CL" sz="1000" dirty="0" err="1"/>
              <a:t>Techniques</a:t>
            </a:r>
            <a:r>
              <a:rPr lang="es-CL" sz="1000" dirty="0"/>
              <a:t>. </a:t>
            </a:r>
            <a:r>
              <a:rPr lang="es-CL" sz="1000" dirty="0" err="1"/>
              <a:t>Jiawei</a:t>
            </a:r>
            <a:r>
              <a:rPr lang="es-CL" sz="1000" dirty="0"/>
              <a:t> Han y otros. </a:t>
            </a:r>
          </a:p>
        </p:txBody>
      </p:sp>
      <p:sp>
        <p:nvSpPr>
          <p:cNvPr id="2" name="CuadroTexto 1">
            <a:extLst>
              <a:ext uri="{FF2B5EF4-FFF2-40B4-BE49-F238E27FC236}">
                <a16:creationId xmlns:a16="http://schemas.microsoft.com/office/drawing/2014/main" id="{E6E38C87-05D7-5CF4-06DA-1CF96B32F6DD}"/>
              </a:ext>
            </a:extLst>
          </p:cNvPr>
          <p:cNvSpPr txBox="1"/>
          <p:nvPr/>
        </p:nvSpPr>
        <p:spPr>
          <a:xfrm>
            <a:off x="863890" y="1028343"/>
            <a:ext cx="5102225" cy="4801314"/>
          </a:xfrm>
          <a:prstGeom prst="rect">
            <a:avLst/>
          </a:prstGeom>
          <a:noFill/>
        </p:spPr>
        <p:txBody>
          <a:bodyPr wrap="square" rtlCol="0">
            <a:spAutoFit/>
          </a:bodyPr>
          <a:lstStyle/>
          <a:p>
            <a:pPr algn="just"/>
            <a:r>
              <a:rPr lang="es-ES" b="1" dirty="0"/>
              <a:t>MINERÍA DE DATOS Y MACHINE LEARNING</a:t>
            </a:r>
            <a:r>
              <a:rPr lang="es-ES" dirty="0"/>
              <a:t>.</a:t>
            </a:r>
          </a:p>
          <a:p>
            <a:pPr algn="just"/>
            <a:endParaRPr lang="es-ES" dirty="0"/>
          </a:p>
          <a:p>
            <a:pPr algn="just"/>
            <a:r>
              <a:rPr lang="es-ES" dirty="0"/>
              <a:t>El aprendizaje automático (Machine </a:t>
            </a:r>
            <a:r>
              <a:rPr lang="es-ES" dirty="0" err="1"/>
              <a:t>Learning</a:t>
            </a:r>
            <a:r>
              <a:rPr lang="es-ES" dirty="0"/>
              <a:t>) investiga cómo las computadoras pueden aprender (o mejorar su rendimiento) basándose en datos.</a:t>
            </a:r>
          </a:p>
          <a:p>
            <a:pPr algn="just"/>
            <a:endParaRPr lang="es-ES" dirty="0"/>
          </a:p>
          <a:p>
            <a:pPr algn="just"/>
            <a:r>
              <a:rPr lang="es-ES" dirty="0"/>
              <a:t>Aunque la Minería de Datos y el Aprendizaje Automático </a:t>
            </a:r>
            <a:r>
              <a:rPr lang="es-ES" b="1" dirty="0"/>
              <a:t>comparten muchas similitudes</a:t>
            </a:r>
            <a:r>
              <a:rPr lang="es-ES" dirty="0"/>
              <a:t>, se diferencian en, por ejemplo, el volumen de datos a procesar, a diferencia del Aprendizaje Automático, la Minería de Datos funciona con conjunto de datos muy grandes.</a:t>
            </a:r>
          </a:p>
          <a:p>
            <a:pPr algn="just"/>
            <a:endParaRPr lang="es-ES" dirty="0"/>
          </a:p>
          <a:p>
            <a:pPr algn="just"/>
            <a:r>
              <a:rPr lang="es-ES" dirty="0"/>
              <a:t>La minería de datos profundiza en </a:t>
            </a:r>
            <a:r>
              <a:rPr lang="es-ES" b="1" dirty="0"/>
              <a:t>dominios de aplicaciones concretas y con uso intensivo de datos</a:t>
            </a:r>
            <a:r>
              <a:rPr lang="es-ES" dirty="0"/>
              <a:t>.</a:t>
            </a:r>
            <a:endParaRPr lang="es-CL" dirty="0"/>
          </a:p>
        </p:txBody>
      </p:sp>
      <p:pic>
        <p:nvPicPr>
          <p:cNvPr id="3" name="Imagen 2">
            <a:extLst>
              <a:ext uri="{FF2B5EF4-FFF2-40B4-BE49-F238E27FC236}">
                <a16:creationId xmlns:a16="http://schemas.microsoft.com/office/drawing/2014/main" id="{345040EC-9385-ED84-88AC-B8B3B48F4D07}"/>
              </a:ext>
            </a:extLst>
          </p:cNvPr>
          <p:cNvPicPr>
            <a:picLocks noChangeAspect="1"/>
          </p:cNvPicPr>
          <p:nvPr/>
        </p:nvPicPr>
        <p:blipFill>
          <a:blip r:embed="rId3"/>
          <a:stretch>
            <a:fillRect/>
          </a:stretch>
        </p:blipFill>
        <p:spPr>
          <a:xfrm>
            <a:off x="6562725" y="1751748"/>
            <a:ext cx="5252617" cy="3718689"/>
          </a:xfrm>
          <a:prstGeom prst="rect">
            <a:avLst/>
          </a:prstGeom>
        </p:spPr>
      </p:pic>
      <p:sp>
        <p:nvSpPr>
          <p:cNvPr id="4" name="Rectángulo 3">
            <a:extLst>
              <a:ext uri="{FF2B5EF4-FFF2-40B4-BE49-F238E27FC236}">
                <a16:creationId xmlns:a16="http://schemas.microsoft.com/office/drawing/2014/main" id="{29B4A122-E4EB-E358-FA99-38A72A0AB307}"/>
              </a:ext>
            </a:extLst>
          </p:cNvPr>
          <p:cNvSpPr/>
          <p:nvPr/>
        </p:nvSpPr>
        <p:spPr>
          <a:xfrm>
            <a:off x="11816102" y="759588"/>
            <a:ext cx="390525" cy="54463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066799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613B5-6438-2502-9FDB-B412F374469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96A531D4-95CA-828A-367E-33E10834EA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6012418"/>
            <a:ext cx="1638300" cy="610990"/>
          </a:xfrm>
          <a:prstGeom prst="rect">
            <a:avLst/>
          </a:prstGeom>
        </p:spPr>
      </p:pic>
      <p:sp>
        <p:nvSpPr>
          <p:cNvPr id="6" name="CuadroTexto 5">
            <a:extLst>
              <a:ext uri="{FF2B5EF4-FFF2-40B4-BE49-F238E27FC236}">
                <a16:creationId xmlns:a16="http://schemas.microsoft.com/office/drawing/2014/main" id="{4CD732E7-8346-0E3F-62A7-D1103A7BB3BD}"/>
              </a:ext>
            </a:extLst>
          </p:cNvPr>
          <p:cNvSpPr txBox="1"/>
          <p:nvPr/>
        </p:nvSpPr>
        <p:spPr>
          <a:xfrm>
            <a:off x="771525" y="1514475"/>
            <a:ext cx="184731" cy="369332"/>
          </a:xfrm>
          <a:prstGeom prst="rect">
            <a:avLst/>
          </a:prstGeom>
          <a:noFill/>
        </p:spPr>
        <p:txBody>
          <a:bodyPr wrap="none" rtlCol="0">
            <a:spAutoFit/>
          </a:bodyPr>
          <a:lstStyle/>
          <a:p>
            <a:endParaRPr lang="es-CL" dirty="0"/>
          </a:p>
        </p:txBody>
      </p:sp>
      <p:grpSp>
        <p:nvGrpSpPr>
          <p:cNvPr id="8" name="Grupo 7">
            <a:extLst>
              <a:ext uri="{FF2B5EF4-FFF2-40B4-BE49-F238E27FC236}">
                <a16:creationId xmlns:a16="http://schemas.microsoft.com/office/drawing/2014/main" id="{C233A740-40BF-6558-285B-14A6CB0392B2}"/>
              </a:ext>
            </a:extLst>
          </p:cNvPr>
          <p:cNvGrpSpPr/>
          <p:nvPr/>
        </p:nvGrpSpPr>
        <p:grpSpPr>
          <a:xfrm>
            <a:off x="1840936" y="0"/>
            <a:ext cx="10351064" cy="180000"/>
            <a:chOff x="1524000" y="6280030"/>
            <a:chExt cx="10351064" cy="180000"/>
          </a:xfrm>
        </p:grpSpPr>
        <p:sp>
          <p:nvSpPr>
            <p:cNvPr id="9" name="Rectángulo 8">
              <a:extLst>
                <a:ext uri="{FF2B5EF4-FFF2-40B4-BE49-F238E27FC236}">
                  <a16:creationId xmlns:a16="http://schemas.microsoft.com/office/drawing/2014/main" id="{B64DF04B-636E-4108-1EF8-042D71EB6AA1}"/>
                </a:ext>
              </a:extLst>
            </p:cNvPr>
            <p:cNvSpPr/>
            <p:nvPr/>
          </p:nvSpPr>
          <p:spPr>
            <a:xfrm>
              <a:off x="1524000" y="6280030"/>
              <a:ext cx="2232000" cy="180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2B276EA0-AC11-5090-9EE4-411076A34AA6}"/>
                </a:ext>
              </a:extLst>
            </p:cNvPr>
            <p:cNvSpPr/>
            <p:nvPr/>
          </p:nvSpPr>
          <p:spPr>
            <a:xfrm>
              <a:off x="3787800" y="6280030"/>
              <a:ext cx="4027732" cy="180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81C1DD14-4291-DD27-CEB7-AE9726B1AC42}"/>
                </a:ext>
              </a:extLst>
            </p:cNvPr>
            <p:cNvSpPr/>
            <p:nvPr/>
          </p:nvSpPr>
          <p:spPr>
            <a:xfrm>
              <a:off x="7847332" y="6280030"/>
              <a:ext cx="4027732" cy="180000"/>
            </a:xfrm>
            <a:prstGeom prst="rect">
              <a:avLst/>
            </a:prstGeom>
            <a:solidFill>
              <a:srgbClr val="FF9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sp>
        <p:nvSpPr>
          <p:cNvPr id="16" name="Título 1">
            <a:extLst>
              <a:ext uri="{FF2B5EF4-FFF2-40B4-BE49-F238E27FC236}">
                <a16:creationId xmlns:a16="http://schemas.microsoft.com/office/drawing/2014/main" id="{8E748C52-C1F7-B173-0C7B-CD3ECFDC8C80}"/>
              </a:ext>
            </a:extLst>
          </p:cNvPr>
          <p:cNvSpPr txBox="1">
            <a:spLocks/>
          </p:cNvSpPr>
          <p:nvPr/>
        </p:nvSpPr>
        <p:spPr>
          <a:xfrm>
            <a:off x="6562725" y="596542"/>
            <a:ext cx="5285529" cy="738664"/>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CL" sz="3200" b="1" dirty="0"/>
              <a:t>DISCIPLINAS INVOLUCRADAS</a:t>
            </a:r>
          </a:p>
        </p:txBody>
      </p:sp>
      <p:sp>
        <p:nvSpPr>
          <p:cNvPr id="12" name="CuadroTexto 11">
            <a:extLst>
              <a:ext uri="{FF2B5EF4-FFF2-40B4-BE49-F238E27FC236}">
                <a16:creationId xmlns:a16="http://schemas.microsoft.com/office/drawing/2014/main" id="{9452FA0C-6063-D0F9-F54F-F25D3C133FA6}"/>
              </a:ext>
            </a:extLst>
          </p:cNvPr>
          <p:cNvSpPr txBox="1"/>
          <p:nvPr/>
        </p:nvSpPr>
        <p:spPr>
          <a:xfrm>
            <a:off x="3976196" y="6122174"/>
            <a:ext cx="3873176" cy="246221"/>
          </a:xfrm>
          <a:prstGeom prst="rect">
            <a:avLst/>
          </a:prstGeom>
          <a:noFill/>
        </p:spPr>
        <p:txBody>
          <a:bodyPr wrap="none" rtlCol="0">
            <a:spAutoFit/>
          </a:bodyPr>
          <a:lstStyle/>
          <a:p>
            <a:r>
              <a:rPr lang="es-CL" sz="1000" dirty="0"/>
              <a:t>Fuente: Data </a:t>
            </a:r>
            <a:r>
              <a:rPr lang="es-CL" sz="1000" dirty="0" err="1"/>
              <a:t>Mining</a:t>
            </a:r>
            <a:r>
              <a:rPr lang="es-CL" sz="1000" dirty="0"/>
              <a:t> </a:t>
            </a:r>
            <a:r>
              <a:rPr lang="es-CL" sz="1000" dirty="0" err="1"/>
              <a:t>Concepts</a:t>
            </a:r>
            <a:r>
              <a:rPr lang="es-CL" sz="1000" dirty="0"/>
              <a:t> and </a:t>
            </a:r>
            <a:r>
              <a:rPr lang="es-CL" sz="1000" dirty="0" err="1"/>
              <a:t>Techniques</a:t>
            </a:r>
            <a:r>
              <a:rPr lang="es-CL" sz="1000" dirty="0"/>
              <a:t>. </a:t>
            </a:r>
            <a:r>
              <a:rPr lang="es-CL" sz="1000" dirty="0" err="1"/>
              <a:t>Jiawei</a:t>
            </a:r>
            <a:r>
              <a:rPr lang="es-CL" sz="1000" dirty="0"/>
              <a:t> Han y otros. </a:t>
            </a:r>
          </a:p>
        </p:txBody>
      </p:sp>
      <p:sp>
        <p:nvSpPr>
          <p:cNvPr id="4" name="CuadroTexto 3">
            <a:extLst>
              <a:ext uri="{FF2B5EF4-FFF2-40B4-BE49-F238E27FC236}">
                <a16:creationId xmlns:a16="http://schemas.microsoft.com/office/drawing/2014/main" id="{414D8933-8BB1-9965-B3DD-7493DF343058}"/>
              </a:ext>
            </a:extLst>
          </p:cNvPr>
          <p:cNvSpPr txBox="1"/>
          <p:nvPr/>
        </p:nvSpPr>
        <p:spPr>
          <a:xfrm>
            <a:off x="1123950" y="1085711"/>
            <a:ext cx="4511675" cy="5232202"/>
          </a:xfrm>
          <a:prstGeom prst="rect">
            <a:avLst/>
          </a:prstGeom>
          <a:noFill/>
        </p:spPr>
        <p:txBody>
          <a:bodyPr wrap="square" rtlCol="0">
            <a:spAutoFit/>
          </a:bodyPr>
          <a:lstStyle/>
          <a:p>
            <a:pPr algn="just"/>
            <a:r>
              <a:rPr lang="es-ES" b="1" dirty="0"/>
              <a:t>MINERÍA DE DATOS Y BASES DE DATOS</a:t>
            </a:r>
            <a:r>
              <a:rPr lang="es-ES" dirty="0"/>
              <a:t>.</a:t>
            </a:r>
          </a:p>
          <a:p>
            <a:pPr algn="just"/>
            <a:endParaRPr lang="es-ES" dirty="0"/>
          </a:p>
          <a:p>
            <a:pPr algn="just"/>
            <a:r>
              <a:rPr lang="es-ES" dirty="0"/>
              <a:t>La tecnología de bases de datos es bien conocida por su escalabilidad en el procesamiento de conjuntos de datos muy grandes y relativamente estructurados.</a:t>
            </a:r>
          </a:p>
          <a:p>
            <a:pPr algn="just"/>
            <a:endParaRPr lang="es-ES" dirty="0"/>
          </a:p>
          <a:p>
            <a:pPr algn="just"/>
            <a:r>
              <a:rPr lang="es-ES" dirty="0"/>
              <a:t>Muchas tareas de minería de datos necesitan manejar grandes conjuntos de datos incluyendo transmisión rápida de estos en tiempo real. </a:t>
            </a:r>
          </a:p>
          <a:p>
            <a:pPr algn="just"/>
            <a:endParaRPr lang="es-ES" dirty="0"/>
          </a:p>
          <a:p>
            <a:pPr algn="just"/>
            <a:r>
              <a:rPr lang="es-ES" dirty="0"/>
              <a:t>La minería de datos puede hacer un </a:t>
            </a:r>
            <a:r>
              <a:rPr lang="es-ES" b="1" dirty="0"/>
              <a:t>buen uso de las tecnologías de bases de datos escalables para lograr una alta eficiencia y escalabilidad en grandes conjuntos de datos</a:t>
            </a:r>
            <a:r>
              <a:rPr lang="es-ES" dirty="0"/>
              <a:t>. </a:t>
            </a:r>
          </a:p>
          <a:p>
            <a:pPr algn="just"/>
            <a:endParaRPr lang="es-ES" sz="2800" dirty="0"/>
          </a:p>
        </p:txBody>
      </p:sp>
      <p:pic>
        <p:nvPicPr>
          <p:cNvPr id="7" name="Picture 2">
            <a:extLst>
              <a:ext uri="{FF2B5EF4-FFF2-40B4-BE49-F238E27FC236}">
                <a16:creationId xmlns:a16="http://schemas.microsoft.com/office/drawing/2014/main" id="{A4ABF54F-41DB-A310-E130-ADB8A8F30F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7510" y="2311618"/>
            <a:ext cx="4775200" cy="2469931"/>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E44487A5-7481-13D6-2F67-08D50D11AD9A}"/>
              </a:ext>
            </a:extLst>
          </p:cNvPr>
          <p:cNvSpPr/>
          <p:nvPr/>
        </p:nvSpPr>
        <p:spPr>
          <a:xfrm>
            <a:off x="11816102" y="759588"/>
            <a:ext cx="390525" cy="54463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937300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64F03-C3D3-D3F5-F503-CEF27C6F52CA}"/>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1C9BC1F2-488E-1216-B390-439374F4E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6012418"/>
            <a:ext cx="1638300" cy="610990"/>
          </a:xfrm>
          <a:prstGeom prst="rect">
            <a:avLst/>
          </a:prstGeom>
        </p:spPr>
      </p:pic>
      <p:sp>
        <p:nvSpPr>
          <p:cNvPr id="6" name="CuadroTexto 5">
            <a:extLst>
              <a:ext uri="{FF2B5EF4-FFF2-40B4-BE49-F238E27FC236}">
                <a16:creationId xmlns:a16="http://schemas.microsoft.com/office/drawing/2014/main" id="{1D299912-72A5-A528-25F3-0D76209D26C0}"/>
              </a:ext>
            </a:extLst>
          </p:cNvPr>
          <p:cNvSpPr txBox="1"/>
          <p:nvPr/>
        </p:nvSpPr>
        <p:spPr>
          <a:xfrm>
            <a:off x="771525" y="1514475"/>
            <a:ext cx="184731" cy="369332"/>
          </a:xfrm>
          <a:prstGeom prst="rect">
            <a:avLst/>
          </a:prstGeom>
          <a:noFill/>
        </p:spPr>
        <p:txBody>
          <a:bodyPr wrap="none" rtlCol="0">
            <a:spAutoFit/>
          </a:bodyPr>
          <a:lstStyle/>
          <a:p>
            <a:endParaRPr lang="es-CL" dirty="0"/>
          </a:p>
        </p:txBody>
      </p:sp>
      <p:grpSp>
        <p:nvGrpSpPr>
          <p:cNvPr id="8" name="Grupo 7">
            <a:extLst>
              <a:ext uri="{FF2B5EF4-FFF2-40B4-BE49-F238E27FC236}">
                <a16:creationId xmlns:a16="http://schemas.microsoft.com/office/drawing/2014/main" id="{12D33249-FC44-7C9F-B844-67213754B77B}"/>
              </a:ext>
            </a:extLst>
          </p:cNvPr>
          <p:cNvGrpSpPr/>
          <p:nvPr/>
        </p:nvGrpSpPr>
        <p:grpSpPr>
          <a:xfrm>
            <a:off x="1840936" y="0"/>
            <a:ext cx="10351064" cy="180000"/>
            <a:chOff x="1524000" y="6280030"/>
            <a:chExt cx="10351064" cy="180000"/>
          </a:xfrm>
        </p:grpSpPr>
        <p:sp>
          <p:nvSpPr>
            <p:cNvPr id="9" name="Rectángulo 8">
              <a:extLst>
                <a:ext uri="{FF2B5EF4-FFF2-40B4-BE49-F238E27FC236}">
                  <a16:creationId xmlns:a16="http://schemas.microsoft.com/office/drawing/2014/main" id="{6D422D02-592A-A3BA-5CCE-836B5ED81B3C}"/>
                </a:ext>
              </a:extLst>
            </p:cNvPr>
            <p:cNvSpPr/>
            <p:nvPr/>
          </p:nvSpPr>
          <p:spPr>
            <a:xfrm>
              <a:off x="1524000" y="6280030"/>
              <a:ext cx="2232000" cy="180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CCB3BB84-1EC6-E50E-79BF-64C218A5447E}"/>
                </a:ext>
              </a:extLst>
            </p:cNvPr>
            <p:cNvSpPr/>
            <p:nvPr/>
          </p:nvSpPr>
          <p:spPr>
            <a:xfrm>
              <a:off x="3787800" y="6280030"/>
              <a:ext cx="4027732" cy="180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33029E62-AB3D-DCCA-6BA7-A05ABE3EC2DD}"/>
                </a:ext>
              </a:extLst>
            </p:cNvPr>
            <p:cNvSpPr/>
            <p:nvPr/>
          </p:nvSpPr>
          <p:spPr>
            <a:xfrm>
              <a:off x="7847332" y="6280030"/>
              <a:ext cx="4027732" cy="180000"/>
            </a:xfrm>
            <a:prstGeom prst="rect">
              <a:avLst/>
            </a:prstGeom>
            <a:solidFill>
              <a:srgbClr val="FF9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sp>
        <p:nvSpPr>
          <p:cNvPr id="16" name="Título 1">
            <a:extLst>
              <a:ext uri="{FF2B5EF4-FFF2-40B4-BE49-F238E27FC236}">
                <a16:creationId xmlns:a16="http://schemas.microsoft.com/office/drawing/2014/main" id="{4577A09A-9EA7-E1DE-16FC-5713229C5E83}"/>
              </a:ext>
            </a:extLst>
          </p:cNvPr>
          <p:cNvSpPr txBox="1">
            <a:spLocks/>
          </p:cNvSpPr>
          <p:nvPr/>
        </p:nvSpPr>
        <p:spPr>
          <a:xfrm>
            <a:off x="6562725" y="596542"/>
            <a:ext cx="5285529" cy="738664"/>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CL" sz="3200" b="1" dirty="0"/>
              <a:t>DISCIPLINAS INVOLUCRADAS</a:t>
            </a:r>
          </a:p>
        </p:txBody>
      </p:sp>
      <p:sp>
        <p:nvSpPr>
          <p:cNvPr id="12" name="CuadroTexto 11">
            <a:extLst>
              <a:ext uri="{FF2B5EF4-FFF2-40B4-BE49-F238E27FC236}">
                <a16:creationId xmlns:a16="http://schemas.microsoft.com/office/drawing/2014/main" id="{C625D800-DA8B-8E63-65A3-7CB8655C0CE2}"/>
              </a:ext>
            </a:extLst>
          </p:cNvPr>
          <p:cNvSpPr txBox="1"/>
          <p:nvPr/>
        </p:nvSpPr>
        <p:spPr>
          <a:xfrm>
            <a:off x="3976196" y="6122174"/>
            <a:ext cx="3873176" cy="246221"/>
          </a:xfrm>
          <a:prstGeom prst="rect">
            <a:avLst/>
          </a:prstGeom>
          <a:noFill/>
        </p:spPr>
        <p:txBody>
          <a:bodyPr wrap="none" rtlCol="0">
            <a:spAutoFit/>
          </a:bodyPr>
          <a:lstStyle/>
          <a:p>
            <a:r>
              <a:rPr lang="es-CL" sz="1000" dirty="0"/>
              <a:t>Fuente: Data </a:t>
            </a:r>
            <a:r>
              <a:rPr lang="es-CL" sz="1000" dirty="0" err="1"/>
              <a:t>Mining</a:t>
            </a:r>
            <a:r>
              <a:rPr lang="es-CL" sz="1000" dirty="0"/>
              <a:t> </a:t>
            </a:r>
            <a:r>
              <a:rPr lang="es-CL" sz="1000" dirty="0" err="1"/>
              <a:t>Concepts</a:t>
            </a:r>
            <a:r>
              <a:rPr lang="es-CL" sz="1000" dirty="0"/>
              <a:t> and </a:t>
            </a:r>
            <a:r>
              <a:rPr lang="es-CL" sz="1000" dirty="0" err="1"/>
              <a:t>Techniques</a:t>
            </a:r>
            <a:r>
              <a:rPr lang="es-CL" sz="1000" dirty="0"/>
              <a:t>. </a:t>
            </a:r>
            <a:r>
              <a:rPr lang="es-CL" sz="1000" dirty="0" err="1"/>
              <a:t>Jiawei</a:t>
            </a:r>
            <a:r>
              <a:rPr lang="es-CL" sz="1000" dirty="0"/>
              <a:t> Han y otros. </a:t>
            </a:r>
          </a:p>
        </p:txBody>
      </p:sp>
      <p:sp>
        <p:nvSpPr>
          <p:cNvPr id="2" name="CuadroTexto 1">
            <a:extLst>
              <a:ext uri="{FF2B5EF4-FFF2-40B4-BE49-F238E27FC236}">
                <a16:creationId xmlns:a16="http://schemas.microsoft.com/office/drawing/2014/main" id="{C600B47A-3C3B-8DB8-7291-CB9B2FDF05D7}"/>
              </a:ext>
            </a:extLst>
          </p:cNvPr>
          <p:cNvSpPr txBox="1"/>
          <p:nvPr/>
        </p:nvSpPr>
        <p:spPr>
          <a:xfrm>
            <a:off x="863890" y="863833"/>
            <a:ext cx="4953634" cy="4801314"/>
          </a:xfrm>
          <a:prstGeom prst="rect">
            <a:avLst/>
          </a:prstGeom>
          <a:noFill/>
        </p:spPr>
        <p:txBody>
          <a:bodyPr wrap="square" rtlCol="0">
            <a:spAutoFit/>
          </a:bodyPr>
          <a:lstStyle/>
          <a:p>
            <a:pPr algn="just"/>
            <a:r>
              <a:rPr lang="es-ES" b="1" dirty="0"/>
              <a:t>MINERÍA DE DATOS Y DATA SCIENCE</a:t>
            </a:r>
            <a:r>
              <a:rPr lang="es-ES" dirty="0"/>
              <a:t>.</a:t>
            </a:r>
          </a:p>
          <a:p>
            <a:pPr algn="just"/>
            <a:endParaRPr lang="es-ES" dirty="0"/>
          </a:p>
          <a:p>
            <a:pPr algn="just"/>
            <a:r>
              <a:rPr lang="es-ES" dirty="0"/>
              <a:t>Con la enorme cantidad de datos en casi todas las disciplinas y diversos tipos de aplicaciones, Big Data y Ciencia de Datos se han convertido en palabras de moda en los últimos años. </a:t>
            </a:r>
          </a:p>
          <a:p>
            <a:pPr algn="just"/>
            <a:endParaRPr lang="es-ES" dirty="0"/>
          </a:p>
          <a:p>
            <a:pPr algn="just"/>
            <a:r>
              <a:rPr lang="es-ES" dirty="0"/>
              <a:t>Big Data generalmente se refiere a </a:t>
            </a:r>
            <a:r>
              <a:rPr lang="es-ES" b="1" dirty="0"/>
              <a:t>enormes cantidades de datos estructurados y no estructurados</a:t>
            </a:r>
            <a:r>
              <a:rPr lang="es-ES" dirty="0"/>
              <a:t> de diversas formas, y la Ciencia de Datos es una </a:t>
            </a:r>
            <a:r>
              <a:rPr lang="es-ES" b="1" dirty="0"/>
              <a:t>disciplina interdisciplinaria </a:t>
            </a:r>
            <a:r>
              <a:rPr lang="es-ES" dirty="0"/>
              <a:t>que utiliza métodos, procesos, algoritmos y sistemas científicos para extraer conocimientos e ideas a partir de datos masivos. </a:t>
            </a:r>
          </a:p>
          <a:p>
            <a:pPr algn="just"/>
            <a:endParaRPr lang="es-ES" dirty="0"/>
          </a:p>
          <a:p>
            <a:pPr algn="just"/>
            <a:r>
              <a:rPr lang="es-ES" dirty="0"/>
              <a:t>Claramente, la minería de datos juega un papel esencial en la ciencia de datos.</a:t>
            </a:r>
          </a:p>
        </p:txBody>
      </p:sp>
      <p:pic>
        <p:nvPicPr>
          <p:cNvPr id="3" name="Imagen 2">
            <a:extLst>
              <a:ext uri="{FF2B5EF4-FFF2-40B4-BE49-F238E27FC236}">
                <a16:creationId xmlns:a16="http://schemas.microsoft.com/office/drawing/2014/main" id="{35766F86-2EBF-FA94-5F89-5D69E02B59F1}"/>
              </a:ext>
            </a:extLst>
          </p:cNvPr>
          <p:cNvPicPr>
            <a:picLocks noChangeAspect="1"/>
          </p:cNvPicPr>
          <p:nvPr/>
        </p:nvPicPr>
        <p:blipFill>
          <a:blip r:embed="rId3"/>
          <a:stretch>
            <a:fillRect/>
          </a:stretch>
        </p:blipFill>
        <p:spPr>
          <a:xfrm>
            <a:off x="6400800" y="1883807"/>
            <a:ext cx="5317045" cy="3324312"/>
          </a:xfrm>
          <a:prstGeom prst="rect">
            <a:avLst/>
          </a:prstGeom>
        </p:spPr>
      </p:pic>
      <p:sp>
        <p:nvSpPr>
          <p:cNvPr id="10" name="Rectángulo 9">
            <a:extLst>
              <a:ext uri="{FF2B5EF4-FFF2-40B4-BE49-F238E27FC236}">
                <a16:creationId xmlns:a16="http://schemas.microsoft.com/office/drawing/2014/main" id="{331C637F-C5E3-147E-3518-F79D575D6475}"/>
              </a:ext>
            </a:extLst>
          </p:cNvPr>
          <p:cNvSpPr/>
          <p:nvPr/>
        </p:nvSpPr>
        <p:spPr>
          <a:xfrm>
            <a:off x="11816102" y="759588"/>
            <a:ext cx="390525" cy="54463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73837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C5A10-482B-93E2-EB00-5FA2C60814E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DD49A7D3-58BF-FCF2-C98C-9C66286D31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6012418"/>
            <a:ext cx="1638300" cy="610990"/>
          </a:xfrm>
          <a:prstGeom prst="rect">
            <a:avLst/>
          </a:prstGeom>
        </p:spPr>
      </p:pic>
      <p:sp>
        <p:nvSpPr>
          <p:cNvPr id="6" name="CuadroTexto 5">
            <a:extLst>
              <a:ext uri="{FF2B5EF4-FFF2-40B4-BE49-F238E27FC236}">
                <a16:creationId xmlns:a16="http://schemas.microsoft.com/office/drawing/2014/main" id="{06E8AEAF-E055-390A-1F7A-F7E4E59AADCA}"/>
              </a:ext>
            </a:extLst>
          </p:cNvPr>
          <p:cNvSpPr txBox="1"/>
          <p:nvPr/>
        </p:nvSpPr>
        <p:spPr>
          <a:xfrm>
            <a:off x="771525" y="1514475"/>
            <a:ext cx="184731" cy="369332"/>
          </a:xfrm>
          <a:prstGeom prst="rect">
            <a:avLst/>
          </a:prstGeom>
          <a:noFill/>
        </p:spPr>
        <p:txBody>
          <a:bodyPr wrap="none" rtlCol="0">
            <a:spAutoFit/>
          </a:bodyPr>
          <a:lstStyle/>
          <a:p>
            <a:endParaRPr lang="es-CL" dirty="0"/>
          </a:p>
        </p:txBody>
      </p:sp>
      <p:grpSp>
        <p:nvGrpSpPr>
          <p:cNvPr id="8" name="Grupo 7">
            <a:extLst>
              <a:ext uri="{FF2B5EF4-FFF2-40B4-BE49-F238E27FC236}">
                <a16:creationId xmlns:a16="http://schemas.microsoft.com/office/drawing/2014/main" id="{F0AB565B-AD41-EB62-C649-46C052B45BAB}"/>
              </a:ext>
            </a:extLst>
          </p:cNvPr>
          <p:cNvGrpSpPr/>
          <p:nvPr/>
        </p:nvGrpSpPr>
        <p:grpSpPr>
          <a:xfrm>
            <a:off x="1840936" y="0"/>
            <a:ext cx="10351064" cy="180000"/>
            <a:chOff x="1524000" y="6280030"/>
            <a:chExt cx="10351064" cy="180000"/>
          </a:xfrm>
        </p:grpSpPr>
        <p:sp>
          <p:nvSpPr>
            <p:cNvPr id="9" name="Rectángulo 8">
              <a:extLst>
                <a:ext uri="{FF2B5EF4-FFF2-40B4-BE49-F238E27FC236}">
                  <a16:creationId xmlns:a16="http://schemas.microsoft.com/office/drawing/2014/main" id="{0B916A20-A874-ECCA-7F90-239CDA0320D3}"/>
                </a:ext>
              </a:extLst>
            </p:cNvPr>
            <p:cNvSpPr/>
            <p:nvPr/>
          </p:nvSpPr>
          <p:spPr>
            <a:xfrm>
              <a:off x="1524000" y="6280030"/>
              <a:ext cx="2232000" cy="180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100DE59C-1A51-ADE9-282E-693B3987784F}"/>
                </a:ext>
              </a:extLst>
            </p:cNvPr>
            <p:cNvSpPr/>
            <p:nvPr/>
          </p:nvSpPr>
          <p:spPr>
            <a:xfrm>
              <a:off x="3787800" y="6280030"/>
              <a:ext cx="4027732" cy="180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6306160A-C6BD-78A6-1994-90F5F4DD4D0A}"/>
                </a:ext>
              </a:extLst>
            </p:cNvPr>
            <p:cNvSpPr/>
            <p:nvPr/>
          </p:nvSpPr>
          <p:spPr>
            <a:xfrm>
              <a:off x="7847332" y="6280030"/>
              <a:ext cx="4027732" cy="180000"/>
            </a:xfrm>
            <a:prstGeom prst="rect">
              <a:avLst/>
            </a:prstGeom>
            <a:solidFill>
              <a:srgbClr val="FF9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sp>
        <p:nvSpPr>
          <p:cNvPr id="16" name="Título 1">
            <a:extLst>
              <a:ext uri="{FF2B5EF4-FFF2-40B4-BE49-F238E27FC236}">
                <a16:creationId xmlns:a16="http://schemas.microsoft.com/office/drawing/2014/main" id="{324E7806-4740-F073-0085-7FFBC50E6368}"/>
              </a:ext>
            </a:extLst>
          </p:cNvPr>
          <p:cNvSpPr txBox="1">
            <a:spLocks/>
          </p:cNvSpPr>
          <p:nvPr/>
        </p:nvSpPr>
        <p:spPr>
          <a:xfrm>
            <a:off x="6562725" y="596542"/>
            <a:ext cx="5285529" cy="738664"/>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CL" sz="3200" b="1" dirty="0"/>
              <a:t>DISCIPLINAS INVOLUCRADAS</a:t>
            </a:r>
          </a:p>
        </p:txBody>
      </p:sp>
      <p:sp>
        <p:nvSpPr>
          <p:cNvPr id="12" name="CuadroTexto 11">
            <a:extLst>
              <a:ext uri="{FF2B5EF4-FFF2-40B4-BE49-F238E27FC236}">
                <a16:creationId xmlns:a16="http://schemas.microsoft.com/office/drawing/2014/main" id="{79A5AB40-C35E-8CEB-3BFD-E6475CAB8B03}"/>
              </a:ext>
            </a:extLst>
          </p:cNvPr>
          <p:cNvSpPr txBox="1"/>
          <p:nvPr/>
        </p:nvSpPr>
        <p:spPr>
          <a:xfrm>
            <a:off x="3976196" y="6122174"/>
            <a:ext cx="3873176" cy="246221"/>
          </a:xfrm>
          <a:prstGeom prst="rect">
            <a:avLst/>
          </a:prstGeom>
          <a:noFill/>
        </p:spPr>
        <p:txBody>
          <a:bodyPr wrap="none" rtlCol="0">
            <a:spAutoFit/>
          </a:bodyPr>
          <a:lstStyle/>
          <a:p>
            <a:r>
              <a:rPr lang="es-CL" sz="1000" dirty="0"/>
              <a:t>Fuente: Data </a:t>
            </a:r>
            <a:r>
              <a:rPr lang="es-CL" sz="1000" dirty="0" err="1"/>
              <a:t>Mining</a:t>
            </a:r>
            <a:r>
              <a:rPr lang="es-CL" sz="1000" dirty="0"/>
              <a:t> </a:t>
            </a:r>
            <a:r>
              <a:rPr lang="es-CL" sz="1000" dirty="0" err="1"/>
              <a:t>Concepts</a:t>
            </a:r>
            <a:r>
              <a:rPr lang="es-CL" sz="1000" dirty="0"/>
              <a:t> and </a:t>
            </a:r>
            <a:r>
              <a:rPr lang="es-CL" sz="1000" dirty="0" err="1"/>
              <a:t>Techniques</a:t>
            </a:r>
            <a:r>
              <a:rPr lang="es-CL" sz="1000" dirty="0"/>
              <a:t>. </a:t>
            </a:r>
            <a:r>
              <a:rPr lang="es-CL" sz="1000" dirty="0" err="1"/>
              <a:t>Jiawei</a:t>
            </a:r>
            <a:r>
              <a:rPr lang="es-CL" sz="1000" dirty="0"/>
              <a:t> Han y otros. </a:t>
            </a:r>
          </a:p>
        </p:txBody>
      </p:sp>
      <p:sp>
        <p:nvSpPr>
          <p:cNvPr id="4" name="CuadroTexto 3">
            <a:extLst>
              <a:ext uri="{FF2B5EF4-FFF2-40B4-BE49-F238E27FC236}">
                <a16:creationId xmlns:a16="http://schemas.microsoft.com/office/drawing/2014/main" id="{74833CB8-8C2B-A222-EDF1-5B8D220E95CA}"/>
              </a:ext>
            </a:extLst>
          </p:cNvPr>
          <p:cNvSpPr txBox="1"/>
          <p:nvPr/>
        </p:nvSpPr>
        <p:spPr>
          <a:xfrm>
            <a:off x="631825" y="1305341"/>
            <a:ext cx="5568950" cy="4247317"/>
          </a:xfrm>
          <a:prstGeom prst="rect">
            <a:avLst/>
          </a:prstGeom>
          <a:noFill/>
        </p:spPr>
        <p:txBody>
          <a:bodyPr wrap="square" rtlCol="0">
            <a:spAutoFit/>
          </a:bodyPr>
          <a:lstStyle/>
          <a:p>
            <a:pPr algn="just"/>
            <a:r>
              <a:rPr lang="es-ES" b="1" dirty="0"/>
              <a:t>MINERÍA DE DATOS Y OTRAS DISCIPLINAS</a:t>
            </a:r>
            <a:r>
              <a:rPr lang="es-ES" dirty="0"/>
              <a:t>.</a:t>
            </a:r>
          </a:p>
          <a:p>
            <a:pPr algn="just"/>
            <a:endParaRPr lang="es-ES" dirty="0"/>
          </a:p>
          <a:p>
            <a:pPr algn="just"/>
            <a:r>
              <a:rPr lang="es-ES" b="1" dirty="0"/>
              <a:t>La mayoría de los datos del mundo real no están estructurados</a:t>
            </a:r>
            <a:r>
              <a:rPr lang="es-ES" dirty="0"/>
              <a:t>, se encuentran en forma de texto en lenguaje natural, imágenes o audio y vídeo.</a:t>
            </a:r>
          </a:p>
          <a:p>
            <a:pPr algn="just"/>
            <a:endParaRPr lang="es-ES" dirty="0"/>
          </a:p>
          <a:p>
            <a:pPr algn="just"/>
            <a:r>
              <a:rPr lang="es-ES" dirty="0"/>
              <a:t>Por tanto, el procesamiento del lenguaje natural, la visión por computadora, el reconocimiento de patrones, el procesamiento de señales de audio y video, ofrecen una ayuda fundamental para el manejo de dichos datos.</a:t>
            </a:r>
          </a:p>
          <a:p>
            <a:pPr algn="just"/>
            <a:endParaRPr lang="es-ES" dirty="0"/>
          </a:p>
          <a:p>
            <a:pPr algn="just"/>
            <a:r>
              <a:rPr lang="es-ES" dirty="0"/>
              <a:t>Manejar cualquier tipo especial de datos requiere mucho conocimiento para integrarse en el diseño de los algoritmos de Minería de Datos.</a:t>
            </a:r>
          </a:p>
        </p:txBody>
      </p:sp>
      <p:pic>
        <p:nvPicPr>
          <p:cNvPr id="7" name="Imagen 6">
            <a:extLst>
              <a:ext uri="{FF2B5EF4-FFF2-40B4-BE49-F238E27FC236}">
                <a16:creationId xmlns:a16="http://schemas.microsoft.com/office/drawing/2014/main" id="{F29E362E-016F-5507-BD21-88F6B44EB9C4}"/>
              </a:ext>
            </a:extLst>
          </p:cNvPr>
          <p:cNvPicPr>
            <a:picLocks noChangeAspect="1"/>
          </p:cNvPicPr>
          <p:nvPr/>
        </p:nvPicPr>
        <p:blipFill>
          <a:blip r:embed="rId3"/>
          <a:stretch>
            <a:fillRect/>
          </a:stretch>
        </p:blipFill>
        <p:spPr>
          <a:xfrm>
            <a:off x="7000971" y="2562754"/>
            <a:ext cx="4409036" cy="2075921"/>
          </a:xfrm>
          <a:prstGeom prst="rect">
            <a:avLst/>
          </a:prstGeom>
        </p:spPr>
      </p:pic>
      <p:sp>
        <p:nvSpPr>
          <p:cNvPr id="10" name="Rectángulo 9">
            <a:extLst>
              <a:ext uri="{FF2B5EF4-FFF2-40B4-BE49-F238E27FC236}">
                <a16:creationId xmlns:a16="http://schemas.microsoft.com/office/drawing/2014/main" id="{E497FEEC-6D91-A428-07E3-9584FE67EC8D}"/>
              </a:ext>
            </a:extLst>
          </p:cNvPr>
          <p:cNvSpPr/>
          <p:nvPr/>
        </p:nvSpPr>
        <p:spPr>
          <a:xfrm>
            <a:off x="11816102" y="759588"/>
            <a:ext cx="390525" cy="54463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41025723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9919D-A82E-1FBD-E133-90CD36B44B1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23D812D-6BC2-9B60-CD58-1BFC2BC8178D}"/>
              </a:ext>
            </a:extLst>
          </p:cNvPr>
          <p:cNvSpPr txBox="1">
            <a:spLocks/>
          </p:cNvSpPr>
          <p:nvPr/>
        </p:nvSpPr>
        <p:spPr>
          <a:xfrm>
            <a:off x="1116000" y="5302250"/>
            <a:ext cx="10134600" cy="10156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s-CL" sz="6600" dirty="0"/>
              <a:t>APLICACIONES</a:t>
            </a:r>
          </a:p>
        </p:txBody>
      </p:sp>
      <p:sp>
        <p:nvSpPr>
          <p:cNvPr id="3" name="Título 1">
            <a:extLst>
              <a:ext uri="{FF2B5EF4-FFF2-40B4-BE49-F238E27FC236}">
                <a16:creationId xmlns:a16="http://schemas.microsoft.com/office/drawing/2014/main" id="{6D5B257B-BEB9-0DDC-7014-0F4F80C9E015}"/>
              </a:ext>
            </a:extLst>
          </p:cNvPr>
          <p:cNvSpPr txBox="1">
            <a:spLocks/>
          </p:cNvSpPr>
          <p:nvPr/>
        </p:nvSpPr>
        <p:spPr>
          <a:xfrm>
            <a:off x="9292981" y="3824922"/>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r"/>
            <a:r>
              <a:rPr lang="es-CL" sz="9600" dirty="0">
                <a:latin typeface="Arial Black" panose="020B0604020202020204" pitchFamily="34" charset="0"/>
                <a:cs typeface="Arial Black" panose="020B0604020202020204" pitchFamily="34" charset="0"/>
              </a:rPr>
              <a:t>03</a:t>
            </a:r>
          </a:p>
        </p:txBody>
      </p:sp>
      <p:sp>
        <p:nvSpPr>
          <p:cNvPr id="6" name="CuadroTexto 5">
            <a:extLst>
              <a:ext uri="{FF2B5EF4-FFF2-40B4-BE49-F238E27FC236}">
                <a16:creationId xmlns:a16="http://schemas.microsoft.com/office/drawing/2014/main" id="{2ABD5269-9DDF-2173-B9AB-9CC1DD61F65E}"/>
              </a:ext>
            </a:extLst>
          </p:cNvPr>
          <p:cNvSpPr txBox="1"/>
          <p:nvPr/>
        </p:nvSpPr>
        <p:spPr>
          <a:xfrm>
            <a:off x="771525" y="1514475"/>
            <a:ext cx="184731" cy="369332"/>
          </a:xfrm>
          <a:prstGeom prst="rect">
            <a:avLst/>
          </a:prstGeom>
          <a:noFill/>
        </p:spPr>
        <p:txBody>
          <a:bodyPr wrap="none" rtlCol="0">
            <a:spAutoFit/>
          </a:bodyPr>
          <a:lstStyle/>
          <a:p>
            <a:endParaRPr lang="es-CL" dirty="0"/>
          </a:p>
        </p:txBody>
      </p:sp>
      <p:grpSp>
        <p:nvGrpSpPr>
          <p:cNvPr id="8" name="Grupo 7">
            <a:extLst>
              <a:ext uri="{FF2B5EF4-FFF2-40B4-BE49-F238E27FC236}">
                <a16:creationId xmlns:a16="http://schemas.microsoft.com/office/drawing/2014/main" id="{FE4C7249-E83F-30F1-DE90-A8DA531B878F}"/>
              </a:ext>
            </a:extLst>
          </p:cNvPr>
          <p:cNvGrpSpPr/>
          <p:nvPr/>
        </p:nvGrpSpPr>
        <p:grpSpPr>
          <a:xfrm>
            <a:off x="0" y="0"/>
            <a:ext cx="10351064" cy="180000"/>
            <a:chOff x="1524000" y="6280030"/>
            <a:chExt cx="10351064" cy="180000"/>
          </a:xfrm>
        </p:grpSpPr>
        <p:sp>
          <p:nvSpPr>
            <p:cNvPr id="9" name="Rectángulo 8">
              <a:extLst>
                <a:ext uri="{FF2B5EF4-FFF2-40B4-BE49-F238E27FC236}">
                  <a16:creationId xmlns:a16="http://schemas.microsoft.com/office/drawing/2014/main" id="{7E4D2D9C-F312-136E-C3BC-46ABD363AAB7}"/>
                </a:ext>
              </a:extLst>
            </p:cNvPr>
            <p:cNvSpPr/>
            <p:nvPr/>
          </p:nvSpPr>
          <p:spPr>
            <a:xfrm>
              <a:off x="1524000" y="6280030"/>
              <a:ext cx="2232000" cy="180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9DF46831-B979-E1B6-3215-29E05C5A9B87}"/>
                </a:ext>
              </a:extLst>
            </p:cNvPr>
            <p:cNvSpPr/>
            <p:nvPr/>
          </p:nvSpPr>
          <p:spPr>
            <a:xfrm>
              <a:off x="3787800" y="6280030"/>
              <a:ext cx="4027732" cy="180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237C2D2A-BB60-7388-C9CA-5F7FE32E6502}"/>
                </a:ext>
              </a:extLst>
            </p:cNvPr>
            <p:cNvSpPr/>
            <p:nvPr/>
          </p:nvSpPr>
          <p:spPr>
            <a:xfrm>
              <a:off x="7847332" y="6280030"/>
              <a:ext cx="4027732" cy="180000"/>
            </a:xfrm>
            <a:prstGeom prst="rect">
              <a:avLst/>
            </a:prstGeom>
            <a:solidFill>
              <a:srgbClr val="FF9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spTree>
    <p:extLst>
      <p:ext uri="{BB962C8B-B14F-4D97-AF65-F5344CB8AC3E}">
        <p14:creationId xmlns:p14="http://schemas.microsoft.com/office/powerpoint/2010/main" val="3100350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51D2F-C854-240B-A6F4-6CF80D67A55A}"/>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9A813A82-CD04-37EC-6E9C-D5DB782B01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6012418"/>
            <a:ext cx="1638300" cy="610990"/>
          </a:xfrm>
          <a:prstGeom prst="rect">
            <a:avLst/>
          </a:prstGeom>
        </p:spPr>
      </p:pic>
      <p:sp>
        <p:nvSpPr>
          <p:cNvPr id="6" name="CuadroTexto 5">
            <a:extLst>
              <a:ext uri="{FF2B5EF4-FFF2-40B4-BE49-F238E27FC236}">
                <a16:creationId xmlns:a16="http://schemas.microsoft.com/office/drawing/2014/main" id="{E036BFDB-0486-037D-A6E9-E9A8B4675317}"/>
              </a:ext>
            </a:extLst>
          </p:cNvPr>
          <p:cNvSpPr txBox="1"/>
          <p:nvPr/>
        </p:nvSpPr>
        <p:spPr>
          <a:xfrm>
            <a:off x="771525" y="1514475"/>
            <a:ext cx="184731" cy="369332"/>
          </a:xfrm>
          <a:prstGeom prst="rect">
            <a:avLst/>
          </a:prstGeom>
          <a:noFill/>
        </p:spPr>
        <p:txBody>
          <a:bodyPr wrap="none" rtlCol="0">
            <a:spAutoFit/>
          </a:bodyPr>
          <a:lstStyle/>
          <a:p>
            <a:endParaRPr lang="es-CL" dirty="0"/>
          </a:p>
        </p:txBody>
      </p:sp>
      <p:grpSp>
        <p:nvGrpSpPr>
          <p:cNvPr id="8" name="Grupo 7">
            <a:extLst>
              <a:ext uri="{FF2B5EF4-FFF2-40B4-BE49-F238E27FC236}">
                <a16:creationId xmlns:a16="http://schemas.microsoft.com/office/drawing/2014/main" id="{2E736481-B185-3AB0-F7CC-03762C757AF6}"/>
              </a:ext>
            </a:extLst>
          </p:cNvPr>
          <p:cNvGrpSpPr/>
          <p:nvPr/>
        </p:nvGrpSpPr>
        <p:grpSpPr>
          <a:xfrm>
            <a:off x="1840936" y="0"/>
            <a:ext cx="10351064" cy="180000"/>
            <a:chOff x="1524000" y="6280030"/>
            <a:chExt cx="10351064" cy="180000"/>
          </a:xfrm>
        </p:grpSpPr>
        <p:sp>
          <p:nvSpPr>
            <p:cNvPr id="9" name="Rectángulo 8">
              <a:extLst>
                <a:ext uri="{FF2B5EF4-FFF2-40B4-BE49-F238E27FC236}">
                  <a16:creationId xmlns:a16="http://schemas.microsoft.com/office/drawing/2014/main" id="{1E4546F4-5026-1F7A-FDBE-AFA1625C75DA}"/>
                </a:ext>
              </a:extLst>
            </p:cNvPr>
            <p:cNvSpPr/>
            <p:nvPr/>
          </p:nvSpPr>
          <p:spPr>
            <a:xfrm>
              <a:off x="1524000" y="6280030"/>
              <a:ext cx="2232000" cy="180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20389728-BC94-8751-51B0-DAA2A5897063}"/>
                </a:ext>
              </a:extLst>
            </p:cNvPr>
            <p:cNvSpPr/>
            <p:nvPr/>
          </p:nvSpPr>
          <p:spPr>
            <a:xfrm>
              <a:off x="3787800" y="6280030"/>
              <a:ext cx="4027732" cy="180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A5E5A995-3A2D-3A85-84B8-2D11A6443E10}"/>
                </a:ext>
              </a:extLst>
            </p:cNvPr>
            <p:cNvSpPr/>
            <p:nvPr/>
          </p:nvSpPr>
          <p:spPr>
            <a:xfrm>
              <a:off x="7847332" y="6280030"/>
              <a:ext cx="4027732" cy="180000"/>
            </a:xfrm>
            <a:prstGeom prst="rect">
              <a:avLst/>
            </a:prstGeom>
            <a:solidFill>
              <a:srgbClr val="FF9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sp>
        <p:nvSpPr>
          <p:cNvPr id="16" name="Título 1">
            <a:extLst>
              <a:ext uri="{FF2B5EF4-FFF2-40B4-BE49-F238E27FC236}">
                <a16:creationId xmlns:a16="http://schemas.microsoft.com/office/drawing/2014/main" id="{091325BD-3FB7-F68F-7392-3E9F8386CEF4}"/>
              </a:ext>
            </a:extLst>
          </p:cNvPr>
          <p:cNvSpPr txBox="1">
            <a:spLocks/>
          </p:cNvSpPr>
          <p:nvPr/>
        </p:nvSpPr>
        <p:spPr>
          <a:xfrm>
            <a:off x="412984" y="509598"/>
            <a:ext cx="2966948" cy="73866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CL" sz="3200" b="1" dirty="0"/>
              <a:t>APLICACIONES</a:t>
            </a:r>
          </a:p>
        </p:txBody>
      </p:sp>
      <p:sp>
        <p:nvSpPr>
          <p:cNvPr id="2" name="CuadroTexto 1">
            <a:extLst>
              <a:ext uri="{FF2B5EF4-FFF2-40B4-BE49-F238E27FC236}">
                <a16:creationId xmlns:a16="http://schemas.microsoft.com/office/drawing/2014/main" id="{575867F3-0352-A8CD-91C2-7687455A5A19}"/>
              </a:ext>
            </a:extLst>
          </p:cNvPr>
          <p:cNvSpPr txBox="1"/>
          <p:nvPr/>
        </p:nvSpPr>
        <p:spPr>
          <a:xfrm>
            <a:off x="663865" y="1940560"/>
            <a:ext cx="5432135" cy="2800767"/>
          </a:xfrm>
          <a:prstGeom prst="rect">
            <a:avLst/>
          </a:prstGeom>
          <a:noFill/>
        </p:spPr>
        <p:txBody>
          <a:bodyPr wrap="square" rtlCol="0">
            <a:spAutoFit/>
          </a:bodyPr>
          <a:lstStyle/>
          <a:p>
            <a:pPr algn="just"/>
            <a:r>
              <a:rPr lang="es-ES" sz="1600" dirty="0"/>
              <a:t>La Minería de Datos ha tenido grandes éxitos en muchas aplicaciones. </a:t>
            </a:r>
          </a:p>
          <a:p>
            <a:pPr algn="just"/>
            <a:endParaRPr lang="es-ES" sz="1600" dirty="0"/>
          </a:p>
          <a:p>
            <a:pPr algn="just"/>
            <a:r>
              <a:rPr lang="es-ES" sz="1600" dirty="0"/>
              <a:t>Podremos mencionar la bio informática, la ingeniería de software, como aplicaciones muy particulares.</a:t>
            </a:r>
          </a:p>
          <a:p>
            <a:pPr algn="just"/>
            <a:endParaRPr lang="es-ES" sz="1600" dirty="0"/>
          </a:p>
          <a:p>
            <a:pPr algn="just"/>
            <a:endParaRPr lang="es-ES" sz="1600" dirty="0"/>
          </a:p>
          <a:p>
            <a:pPr algn="just"/>
            <a:r>
              <a:rPr lang="es-ES" sz="1600" dirty="0"/>
              <a:t>Aunque las aplicaciones más populares y exitosas están relacionadas con </a:t>
            </a:r>
            <a:r>
              <a:rPr lang="es-ES" sz="1600" b="1" dirty="0"/>
              <a:t>Business </a:t>
            </a:r>
            <a:r>
              <a:rPr lang="es-ES" sz="1600" b="1" dirty="0" err="1"/>
              <a:t>Intelligence</a:t>
            </a:r>
            <a:r>
              <a:rPr lang="es-ES" sz="1600" dirty="0"/>
              <a:t>, </a:t>
            </a:r>
            <a:r>
              <a:rPr lang="es-ES" sz="1600" b="1" dirty="0"/>
              <a:t>motores de búsqueda en la web, medios y redes sociales, biología, ciencias médicas y atención de salud</a:t>
            </a:r>
            <a:r>
              <a:rPr lang="es-ES" sz="1600" dirty="0"/>
              <a:t> .</a:t>
            </a:r>
          </a:p>
        </p:txBody>
      </p:sp>
      <p:sp>
        <p:nvSpPr>
          <p:cNvPr id="3" name="CuadroTexto 2">
            <a:extLst>
              <a:ext uri="{FF2B5EF4-FFF2-40B4-BE49-F238E27FC236}">
                <a16:creationId xmlns:a16="http://schemas.microsoft.com/office/drawing/2014/main" id="{48FC5AFE-D1CE-9070-D641-854AFE759C7A}"/>
              </a:ext>
            </a:extLst>
          </p:cNvPr>
          <p:cNvSpPr txBox="1"/>
          <p:nvPr/>
        </p:nvSpPr>
        <p:spPr>
          <a:xfrm>
            <a:off x="6480176" y="1828562"/>
            <a:ext cx="5530850" cy="3200876"/>
          </a:xfrm>
          <a:prstGeom prst="rect">
            <a:avLst/>
          </a:prstGeom>
          <a:noFill/>
        </p:spPr>
        <p:txBody>
          <a:bodyPr wrap="square" rtlCol="0">
            <a:spAutoFit/>
          </a:bodyPr>
          <a:lstStyle/>
          <a:p>
            <a:pPr marR="0" lvl="0" algn="just" rtl="0">
              <a:lnSpc>
                <a:spcPct val="115000"/>
              </a:lnSpc>
              <a:spcBef>
                <a:spcPts val="0"/>
              </a:spcBef>
              <a:spcAft>
                <a:spcPts val="0"/>
              </a:spcAft>
              <a:buClr>
                <a:schemeClr val="dk2"/>
              </a:buClr>
              <a:buSzPts val="2400"/>
            </a:pPr>
            <a:r>
              <a:rPr lang="es-ES" sz="1600" b="1" u="none" strike="noStrike" cap="none" dirty="0">
                <a:solidFill>
                  <a:schemeClr val="dk2"/>
                </a:solidFill>
                <a:latin typeface="Calibri"/>
                <a:ea typeface="Calibri"/>
                <a:cs typeface="Calibri"/>
                <a:sym typeface="Calibri"/>
              </a:rPr>
              <a:t>ALGUNAS APLICACIONES</a:t>
            </a:r>
          </a:p>
          <a:p>
            <a:pPr marR="0" lvl="0" algn="just" rtl="0">
              <a:lnSpc>
                <a:spcPct val="115000"/>
              </a:lnSpc>
              <a:spcBef>
                <a:spcPts val="0"/>
              </a:spcBef>
              <a:spcAft>
                <a:spcPts val="0"/>
              </a:spcAft>
              <a:buClr>
                <a:schemeClr val="dk2"/>
              </a:buClr>
              <a:buSzPts val="2400"/>
            </a:pPr>
            <a:endParaRPr lang="es-ES" sz="1600" b="1" u="none" strike="noStrike" cap="none" dirty="0">
              <a:solidFill>
                <a:schemeClr val="dk2"/>
              </a:solidFill>
              <a:latin typeface="Calibri"/>
              <a:ea typeface="Calibri"/>
              <a:cs typeface="Calibri"/>
              <a:sym typeface="Calibri"/>
            </a:endParaRPr>
          </a:p>
          <a:p>
            <a:pPr marL="342900" marR="0" lvl="0" indent="-342900" algn="just" rtl="0">
              <a:lnSpc>
                <a:spcPct val="115000"/>
              </a:lnSpc>
              <a:spcBef>
                <a:spcPts val="0"/>
              </a:spcBef>
              <a:spcAft>
                <a:spcPts val="0"/>
              </a:spcAft>
              <a:buClr>
                <a:schemeClr val="dk2"/>
              </a:buClr>
              <a:buSzPts val="2400"/>
              <a:buFont typeface="Calibri"/>
              <a:buChar char="•"/>
            </a:pPr>
            <a:r>
              <a:rPr lang="es-ES" sz="1600" b="1" u="none" strike="noStrike" cap="none" dirty="0">
                <a:solidFill>
                  <a:schemeClr val="dk2"/>
                </a:solidFill>
                <a:latin typeface="Calibri"/>
                <a:ea typeface="Calibri"/>
                <a:cs typeface="Calibri"/>
                <a:sym typeface="Calibri"/>
              </a:rPr>
              <a:t>Detección de fraudes y problemas de seguridad cibernética</a:t>
            </a:r>
            <a:endParaRPr lang="es-ES" sz="1600" u="none" strike="noStrike" cap="none" dirty="0">
              <a:solidFill>
                <a:srgbClr val="000000"/>
              </a:solidFill>
              <a:latin typeface="Calibri"/>
              <a:ea typeface="Calibri"/>
              <a:cs typeface="Calibri"/>
              <a:sym typeface="Calibri"/>
            </a:endParaRPr>
          </a:p>
          <a:p>
            <a:pPr marL="342900" marR="0" lvl="0" indent="-342900" algn="just" rtl="0">
              <a:lnSpc>
                <a:spcPct val="115000"/>
              </a:lnSpc>
              <a:spcBef>
                <a:spcPts val="0"/>
              </a:spcBef>
              <a:spcAft>
                <a:spcPts val="0"/>
              </a:spcAft>
              <a:buClr>
                <a:schemeClr val="dk2"/>
              </a:buClr>
              <a:buSzPts val="2400"/>
              <a:buFont typeface="Calibri"/>
              <a:buChar char="•"/>
            </a:pPr>
            <a:r>
              <a:rPr lang="es-ES" sz="1600" b="1" u="none" strike="noStrike" cap="none" dirty="0">
                <a:solidFill>
                  <a:schemeClr val="dk2"/>
                </a:solidFill>
                <a:latin typeface="Calibri"/>
                <a:ea typeface="Calibri"/>
                <a:cs typeface="Calibri"/>
                <a:sym typeface="Calibri"/>
              </a:rPr>
              <a:t>Gestión de riesgos</a:t>
            </a:r>
            <a:endParaRPr lang="es-ES" sz="1600" u="none" strike="noStrike" cap="none" dirty="0">
              <a:solidFill>
                <a:srgbClr val="000000"/>
              </a:solidFill>
              <a:latin typeface="Calibri"/>
              <a:ea typeface="Calibri"/>
              <a:cs typeface="Calibri"/>
              <a:sym typeface="Calibri"/>
            </a:endParaRPr>
          </a:p>
          <a:p>
            <a:pPr marL="342900" marR="0" lvl="0" indent="-342900" algn="just" rtl="0">
              <a:lnSpc>
                <a:spcPct val="115000"/>
              </a:lnSpc>
              <a:spcBef>
                <a:spcPts val="0"/>
              </a:spcBef>
              <a:spcAft>
                <a:spcPts val="0"/>
              </a:spcAft>
              <a:buClr>
                <a:schemeClr val="dk2"/>
              </a:buClr>
              <a:buSzPts val="2400"/>
              <a:buFont typeface="Calibri"/>
              <a:buChar char="•"/>
            </a:pPr>
            <a:r>
              <a:rPr lang="es-ES" sz="1600" b="1" u="none" strike="noStrike" cap="none" dirty="0">
                <a:solidFill>
                  <a:schemeClr val="dk2"/>
                </a:solidFill>
                <a:latin typeface="Calibri"/>
                <a:ea typeface="Calibri"/>
                <a:cs typeface="Calibri"/>
                <a:sym typeface="Calibri"/>
              </a:rPr>
              <a:t>Anticipación a las demandas de recursos</a:t>
            </a:r>
            <a:endParaRPr lang="es-ES" sz="1600" u="none" strike="noStrike" cap="none" dirty="0">
              <a:solidFill>
                <a:srgbClr val="000000"/>
              </a:solidFill>
              <a:latin typeface="Calibri"/>
              <a:ea typeface="Calibri"/>
              <a:cs typeface="Calibri"/>
              <a:sym typeface="Calibri"/>
            </a:endParaRPr>
          </a:p>
          <a:p>
            <a:pPr marL="342900" marR="0" lvl="0" indent="-342900" algn="just" rtl="0">
              <a:lnSpc>
                <a:spcPct val="115000"/>
              </a:lnSpc>
              <a:spcBef>
                <a:spcPts val="0"/>
              </a:spcBef>
              <a:spcAft>
                <a:spcPts val="0"/>
              </a:spcAft>
              <a:buClr>
                <a:schemeClr val="dk2"/>
              </a:buClr>
              <a:buSzPts val="2400"/>
              <a:buFont typeface="Calibri"/>
              <a:buChar char="•"/>
            </a:pPr>
            <a:r>
              <a:rPr lang="es-ES" sz="1600" b="1" u="none" strike="noStrike" cap="none" dirty="0">
                <a:solidFill>
                  <a:schemeClr val="dk2"/>
                </a:solidFill>
                <a:latin typeface="Calibri"/>
                <a:ea typeface="Calibri"/>
                <a:cs typeface="Calibri"/>
                <a:sym typeface="Calibri"/>
              </a:rPr>
              <a:t>Aumento en las tasas de respuesta de campañas</a:t>
            </a:r>
            <a:endParaRPr lang="es-ES" sz="1600" u="none" strike="noStrike" cap="none" dirty="0">
              <a:solidFill>
                <a:srgbClr val="000000"/>
              </a:solidFill>
              <a:latin typeface="Calibri"/>
              <a:ea typeface="Calibri"/>
              <a:cs typeface="Calibri"/>
              <a:sym typeface="Calibri"/>
            </a:endParaRPr>
          </a:p>
          <a:p>
            <a:pPr marL="342900" marR="0" lvl="0" indent="-342900" algn="just" rtl="0">
              <a:lnSpc>
                <a:spcPct val="115000"/>
              </a:lnSpc>
              <a:spcBef>
                <a:spcPts val="0"/>
              </a:spcBef>
              <a:spcAft>
                <a:spcPts val="0"/>
              </a:spcAft>
              <a:buClr>
                <a:schemeClr val="dk2"/>
              </a:buClr>
              <a:buSzPts val="2400"/>
              <a:buFont typeface="Calibri"/>
              <a:buChar char="•"/>
            </a:pPr>
            <a:r>
              <a:rPr lang="es-ES" sz="1600" b="1" u="none" strike="noStrike" cap="none" dirty="0">
                <a:solidFill>
                  <a:schemeClr val="dk2"/>
                </a:solidFill>
                <a:latin typeface="Calibri"/>
                <a:ea typeface="Calibri"/>
                <a:cs typeface="Calibri"/>
                <a:sym typeface="Calibri"/>
              </a:rPr>
              <a:t>Generación de mejores ofertas</a:t>
            </a:r>
            <a:endParaRPr lang="es-ES" sz="1600" u="none" strike="noStrike" cap="none" dirty="0">
              <a:solidFill>
                <a:srgbClr val="000000"/>
              </a:solidFill>
              <a:latin typeface="Calibri"/>
              <a:ea typeface="Calibri"/>
              <a:cs typeface="Calibri"/>
              <a:sym typeface="Calibri"/>
            </a:endParaRPr>
          </a:p>
          <a:p>
            <a:pPr marL="342900" marR="0" lvl="0" indent="-342900" algn="just" rtl="0">
              <a:lnSpc>
                <a:spcPct val="115000"/>
              </a:lnSpc>
              <a:spcBef>
                <a:spcPts val="0"/>
              </a:spcBef>
              <a:spcAft>
                <a:spcPts val="0"/>
              </a:spcAft>
              <a:buClr>
                <a:schemeClr val="dk2"/>
              </a:buClr>
              <a:buSzPts val="2400"/>
              <a:buFont typeface="Calibri"/>
              <a:buChar char="•"/>
            </a:pPr>
            <a:r>
              <a:rPr lang="es-ES" sz="1600" b="1" u="none" strike="noStrike" cap="none" dirty="0">
                <a:solidFill>
                  <a:schemeClr val="dk2"/>
                </a:solidFill>
                <a:latin typeface="Calibri"/>
                <a:ea typeface="Calibri"/>
                <a:cs typeface="Calibri"/>
                <a:sym typeface="Calibri"/>
              </a:rPr>
              <a:t>Fidelización de clientes</a:t>
            </a:r>
            <a:endParaRPr lang="es-ES" sz="1600" u="none" strike="noStrike" cap="none" dirty="0">
              <a:solidFill>
                <a:srgbClr val="000000"/>
              </a:solidFill>
              <a:latin typeface="Calibri"/>
              <a:ea typeface="Calibri"/>
              <a:cs typeface="Calibri"/>
              <a:sym typeface="Calibri"/>
            </a:endParaRPr>
          </a:p>
          <a:p>
            <a:pPr marL="342900" marR="0" lvl="0" indent="-342900" algn="just" rtl="0">
              <a:lnSpc>
                <a:spcPct val="115000"/>
              </a:lnSpc>
              <a:spcBef>
                <a:spcPts val="0"/>
              </a:spcBef>
              <a:spcAft>
                <a:spcPts val="0"/>
              </a:spcAft>
              <a:buClr>
                <a:schemeClr val="dk2"/>
              </a:buClr>
              <a:buSzPts val="2400"/>
              <a:buFont typeface="Calibri"/>
              <a:buChar char="•"/>
            </a:pPr>
            <a:r>
              <a:rPr lang="es-ES" sz="1600" b="1" u="none" strike="noStrike" cap="none" dirty="0">
                <a:solidFill>
                  <a:schemeClr val="dk2"/>
                </a:solidFill>
                <a:latin typeface="Calibri"/>
                <a:ea typeface="Calibri"/>
                <a:cs typeface="Calibri"/>
                <a:sym typeface="Calibri"/>
              </a:rPr>
              <a:t>Identificación de efectos adversos de medicamentos</a:t>
            </a:r>
            <a:endParaRPr lang="es-ES" sz="1600" u="none" strike="noStrike" cap="none" dirty="0">
              <a:solidFill>
                <a:srgbClr val="000000"/>
              </a:solidFill>
              <a:latin typeface="Calibri"/>
              <a:ea typeface="Calibri"/>
              <a:cs typeface="Calibri"/>
              <a:sym typeface="Calibri"/>
            </a:endParaRPr>
          </a:p>
          <a:p>
            <a:pPr marL="342900" marR="0" lvl="0" indent="-342900" algn="just" rtl="0">
              <a:lnSpc>
                <a:spcPct val="115000"/>
              </a:lnSpc>
              <a:spcBef>
                <a:spcPts val="0"/>
              </a:spcBef>
              <a:spcAft>
                <a:spcPts val="0"/>
              </a:spcAft>
              <a:buClr>
                <a:schemeClr val="dk2"/>
              </a:buClr>
              <a:buSzPts val="2400"/>
              <a:buFont typeface="Calibri"/>
              <a:buChar char="•"/>
            </a:pPr>
            <a:r>
              <a:rPr lang="es-ES" sz="1600" b="1" u="none" strike="noStrike" cap="none" dirty="0">
                <a:solidFill>
                  <a:schemeClr val="dk2"/>
                </a:solidFill>
                <a:latin typeface="Calibri"/>
                <a:ea typeface="Calibri"/>
                <a:cs typeface="Calibri"/>
                <a:sym typeface="Calibri"/>
              </a:rPr>
              <a:t>Entre otras muchas cosa</a:t>
            </a:r>
            <a:r>
              <a:rPr lang="es-ES" sz="1600" b="1" dirty="0">
                <a:solidFill>
                  <a:schemeClr val="dk2"/>
                </a:solidFill>
                <a:latin typeface="Calibri"/>
                <a:ea typeface="Calibri"/>
                <a:cs typeface="Calibri"/>
                <a:sym typeface="Calibri"/>
              </a:rPr>
              <a:t>s</a:t>
            </a:r>
            <a:endParaRPr lang="es-ES" sz="1600" b="1" u="none" strike="noStrike" cap="none" dirty="0">
              <a:solidFill>
                <a:schemeClr val="dk2"/>
              </a:solidFill>
              <a:latin typeface="Calibri"/>
              <a:ea typeface="Calibri"/>
              <a:cs typeface="Calibri"/>
              <a:sym typeface="Calibri"/>
            </a:endParaRPr>
          </a:p>
          <a:p>
            <a:endParaRPr lang="es-CL" dirty="0"/>
          </a:p>
        </p:txBody>
      </p:sp>
      <p:sp>
        <p:nvSpPr>
          <p:cNvPr id="10" name="CuadroTexto 9">
            <a:extLst>
              <a:ext uri="{FF2B5EF4-FFF2-40B4-BE49-F238E27FC236}">
                <a16:creationId xmlns:a16="http://schemas.microsoft.com/office/drawing/2014/main" id="{A562454D-F597-D471-E4E7-AC97F451FEC5}"/>
              </a:ext>
            </a:extLst>
          </p:cNvPr>
          <p:cNvSpPr txBox="1"/>
          <p:nvPr/>
        </p:nvSpPr>
        <p:spPr>
          <a:xfrm>
            <a:off x="3126468" y="6010136"/>
            <a:ext cx="6094938" cy="246221"/>
          </a:xfrm>
          <a:prstGeom prst="rect">
            <a:avLst/>
          </a:prstGeom>
          <a:noFill/>
        </p:spPr>
        <p:txBody>
          <a:bodyPr wrap="none" rtlCol="0">
            <a:spAutoFit/>
          </a:bodyPr>
          <a:lstStyle/>
          <a:p>
            <a:r>
              <a:rPr lang="es-CL" sz="1000" dirty="0"/>
              <a:t>Fuente: Bruce, Peter; Bruce, Andrew; </a:t>
            </a:r>
            <a:r>
              <a:rPr lang="es-CL" sz="1000" dirty="0" err="1"/>
              <a:t>Gedeck</a:t>
            </a:r>
            <a:r>
              <a:rPr lang="es-CL" sz="1000" dirty="0"/>
              <a:t>, Peter. </a:t>
            </a:r>
            <a:r>
              <a:rPr lang="es-CL" sz="1000" dirty="0" err="1"/>
              <a:t>Practical</a:t>
            </a:r>
            <a:r>
              <a:rPr lang="es-CL" sz="1000" dirty="0"/>
              <a:t> </a:t>
            </a:r>
            <a:r>
              <a:rPr lang="es-CL" sz="1000" dirty="0" err="1"/>
              <a:t>Statistics</a:t>
            </a:r>
            <a:r>
              <a:rPr lang="es-CL" sz="1000" dirty="0"/>
              <a:t> </a:t>
            </a:r>
            <a:r>
              <a:rPr lang="es-CL" sz="1000" dirty="0" err="1"/>
              <a:t>for</a:t>
            </a:r>
            <a:r>
              <a:rPr lang="es-CL" sz="1000" dirty="0"/>
              <a:t> Data </a:t>
            </a:r>
            <a:r>
              <a:rPr lang="es-CL" sz="1000" dirty="0" err="1"/>
              <a:t>Scientists</a:t>
            </a:r>
            <a:r>
              <a:rPr lang="es-CL" sz="1000" dirty="0"/>
              <a:t> . O'Reilly Media.</a:t>
            </a:r>
          </a:p>
        </p:txBody>
      </p:sp>
      <p:sp>
        <p:nvSpPr>
          <p:cNvPr id="14" name="Rectángulo 13">
            <a:extLst>
              <a:ext uri="{FF2B5EF4-FFF2-40B4-BE49-F238E27FC236}">
                <a16:creationId xmlns:a16="http://schemas.microsoft.com/office/drawing/2014/main" id="{B9F8D8FA-FD9C-2725-F331-63A5F277F170}"/>
              </a:ext>
            </a:extLst>
          </p:cNvPr>
          <p:cNvSpPr/>
          <p:nvPr/>
        </p:nvSpPr>
        <p:spPr>
          <a:xfrm>
            <a:off x="-9524" y="683638"/>
            <a:ext cx="390525" cy="54463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123677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6BE4A-AE0D-02C8-7767-E43568493A5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8B9B4BE-89F5-FF23-4710-53D428DF340E}"/>
              </a:ext>
            </a:extLst>
          </p:cNvPr>
          <p:cNvSpPr txBox="1">
            <a:spLocks/>
          </p:cNvSpPr>
          <p:nvPr/>
        </p:nvSpPr>
        <p:spPr>
          <a:xfrm>
            <a:off x="1116000" y="5302250"/>
            <a:ext cx="10134600" cy="10156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s-CL" sz="6600" dirty="0"/>
              <a:t>RESUMEN</a:t>
            </a:r>
          </a:p>
        </p:txBody>
      </p:sp>
      <p:sp>
        <p:nvSpPr>
          <p:cNvPr id="3" name="Título 1">
            <a:extLst>
              <a:ext uri="{FF2B5EF4-FFF2-40B4-BE49-F238E27FC236}">
                <a16:creationId xmlns:a16="http://schemas.microsoft.com/office/drawing/2014/main" id="{0BA5EF93-6150-3D4F-50E6-93ECD52582C6}"/>
              </a:ext>
            </a:extLst>
          </p:cNvPr>
          <p:cNvSpPr txBox="1">
            <a:spLocks/>
          </p:cNvSpPr>
          <p:nvPr/>
        </p:nvSpPr>
        <p:spPr>
          <a:xfrm>
            <a:off x="9292981" y="3824922"/>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r"/>
            <a:r>
              <a:rPr lang="es-CL" sz="9600" dirty="0">
                <a:latin typeface="Arial Black" panose="020B0604020202020204" pitchFamily="34" charset="0"/>
                <a:cs typeface="Arial Black" panose="020B0604020202020204" pitchFamily="34" charset="0"/>
              </a:rPr>
              <a:t>04</a:t>
            </a:r>
          </a:p>
        </p:txBody>
      </p:sp>
      <p:sp>
        <p:nvSpPr>
          <p:cNvPr id="6" name="CuadroTexto 5">
            <a:extLst>
              <a:ext uri="{FF2B5EF4-FFF2-40B4-BE49-F238E27FC236}">
                <a16:creationId xmlns:a16="http://schemas.microsoft.com/office/drawing/2014/main" id="{144198F3-A7D8-745D-D813-EE39FBF728CA}"/>
              </a:ext>
            </a:extLst>
          </p:cNvPr>
          <p:cNvSpPr txBox="1"/>
          <p:nvPr/>
        </p:nvSpPr>
        <p:spPr>
          <a:xfrm>
            <a:off x="771525" y="1514475"/>
            <a:ext cx="184731" cy="369332"/>
          </a:xfrm>
          <a:prstGeom prst="rect">
            <a:avLst/>
          </a:prstGeom>
          <a:noFill/>
        </p:spPr>
        <p:txBody>
          <a:bodyPr wrap="none" rtlCol="0">
            <a:spAutoFit/>
          </a:bodyPr>
          <a:lstStyle/>
          <a:p>
            <a:endParaRPr lang="es-CL" dirty="0"/>
          </a:p>
        </p:txBody>
      </p:sp>
      <p:grpSp>
        <p:nvGrpSpPr>
          <p:cNvPr id="8" name="Grupo 7">
            <a:extLst>
              <a:ext uri="{FF2B5EF4-FFF2-40B4-BE49-F238E27FC236}">
                <a16:creationId xmlns:a16="http://schemas.microsoft.com/office/drawing/2014/main" id="{F062B827-3696-8293-C831-D2D0D64B5658}"/>
              </a:ext>
            </a:extLst>
          </p:cNvPr>
          <p:cNvGrpSpPr/>
          <p:nvPr/>
        </p:nvGrpSpPr>
        <p:grpSpPr>
          <a:xfrm>
            <a:off x="0" y="0"/>
            <a:ext cx="10351064" cy="180000"/>
            <a:chOff x="1524000" y="6280030"/>
            <a:chExt cx="10351064" cy="180000"/>
          </a:xfrm>
        </p:grpSpPr>
        <p:sp>
          <p:nvSpPr>
            <p:cNvPr id="9" name="Rectángulo 8">
              <a:extLst>
                <a:ext uri="{FF2B5EF4-FFF2-40B4-BE49-F238E27FC236}">
                  <a16:creationId xmlns:a16="http://schemas.microsoft.com/office/drawing/2014/main" id="{C8F09B1F-15E3-0FAA-A08E-14CF08EC8C6F}"/>
                </a:ext>
              </a:extLst>
            </p:cNvPr>
            <p:cNvSpPr/>
            <p:nvPr/>
          </p:nvSpPr>
          <p:spPr>
            <a:xfrm>
              <a:off x="1524000" y="6280030"/>
              <a:ext cx="2232000" cy="180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66424361-7185-83C0-C690-18DA98BF0055}"/>
                </a:ext>
              </a:extLst>
            </p:cNvPr>
            <p:cNvSpPr/>
            <p:nvPr/>
          </p:nvSpPr>
          <p:spPr>
            <a:xfrm>
              <a:off x="3787800" y="6280030"/>
              <a:ext cx="4027732" cy="180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EC4E5981-5053-7505-CC9B-A5D6BC84F651}"/>
                </a:ext>
              </a:extLst>
            </p:cNvPr>
            <p:cNvSpPr/>
            <p:nvPr/>
          </p:nvSpPr>
          <p:spPr>
            <a:xfrm>
              <a:off x="7847332" y="6280030"/>
              <a:ext cx="4027732" cy="180000"/>
            </a:xfrm>
            <a:prstGeom prst="rect">
              <a:avLst/>
            </a:prstGeom>
            <a:solidFill>
              <a:srgbClr val="FF9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spTree>
    <p:extLst>
      <p:ext uri="{BB962C8B-B14F-4D97-AF65-F5344CB8AC3E}">
        <p14:creationId xmlns:p14="http://schemas.microsoft.com/office/powerpoint/2010/main" val="2121263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75550-9038-7CE6-E7C7-9E383FEED2D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10F6F7E9-D5A6-4CE5-D266-84E8B4320D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6012418"/>
            <a:ext cx="1638300" cy="610990"/>
          </a:xfrm>
          <a:prstGeom prst="rect">
            <a:avLst/>
          </a:prstGeom>
        </p:spPr>
      </p:pic>
      <p:sp>
        <p:nvSpPr>
          <p:cNvPr id="6" name="CuadroTexto 5">
            <a:extLst>
              <a:ext uri="{FF2B5EF4-FFF2-40B4-BE49-F238E27FC236}">
                <a16:creationId xmlns:a16="http://schemas.microsoft.com/office/drawing/2014/main" id="{C6585C55-9DF5-79BE-FD66-7178469C3C46}"/>
              </a:ext>
            </a:extLst>
          </p:cNvPr>
          <p:cNvSpPr txBox="1"/>
          <p:nvPr/>
        </p:nvSpPr>
        <p:spPr>
          <a:xfrm>
            <a:off x="771525" y="1514475"/>
            <a:ext cx="184731" cy="369332"/>
          </a:xfrm>
          <a:prstGeom prst="rect">
            <a:avLst/>
          </a:prstGeom>
          <a:noFill/>
        </p:spPr>
        <p:txBody>
          <a:bodyPr wrap="none" rtlCol="0">
            <a:spAutoFit/>
          </a:bodyPr>
          <a:lstStyle/>
          <a:p>
            <a:endParaRPr lang="es-CL" dirty="0"/>
          </a:p>
        </p:txBody>
      </p:sp>
      <p:grpSp>
        <p:nvGrpSpPr>
          <p:cNvPr id="8" name="Grupo 7">
            <a:extLst>
              <a:ext uri="{FF2B5EF4-FFF2-40B4-BE49-F238E27FC236}">
                <a16:creationId xmlns:a16="http://schemas.microsoft.com/office/drawing/2014/main" id="{318F3060-D38D-55D7-9CC9-268816253BE2}"/>
              </a:ext>
            </a:extLst>
          </p:cNvPr>
          <p:cNvGrpSpPr/>
          <p:nvPr/>
        </p:nvGrpSpPr>
        <p:grpSpPr>
          <a:xfrm>
            <a:off x="1840936" y="0"/>
            <a:ext cx="10351064" cy="180000"/>
            <a:chOff x="1524000" y="6280030"/>
            <a:chExt cx="10351064" cy="180000"/>
          </a:xfrm>
        </p:grpSpPr>
        <p:sp>
          <p:nvSpPr>
            <p:cNvPr id="9" name="Rectángulo 8">
              <a:extLst>
                <a:ext uri="{FF2B5EF4-FFF2-40B4-BE49-F238E27FC236}">
                  <a16:creationId xmlns:a16="http://schemas.microsoft.com/office/drawing/2014/main" id="{DBB2383E-14CA-073A-6733-6473F2FB9A02}"/>
                </a:ext>
              </a:extLst>
            </p:cNvPr>
            <p:cNvSpPr/>
            <p:nvPr/>
          </p:nvSpPr>
          <p:spPr>
            <a:xfrm>
              <a:off x="1524000" y="6280030"/>
              <a:ext cx="2232000" cy="180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F2B606CC-B6A1-CFD9-AEB2-CD5C55E0562D}"/>
                </a:ext>
              </a:extLst>
            </p:cNvPr>
            <p:cNvSpPr/>
            <p:nvPr/>
          </p:nvSpPr>
          <p:spPr>
            <a:xfrm>
              <a:off x="3787800" y="6280030"/>
              <a:ext cx="4027732" cy="180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B64CADBC-5527-8B40-5EFA-8DEA12641DD4}"/>
                </a:ext>
              </a:extLst>
            </p:cNvPr>
            <p:cNvSpPr/>
            <p:nvPr/>
          </p:nvSpPr>
          <p:spPr>
            <a:xfrm>
              <a:off x="7847332" y="6280030"/>
              <a:ext cx="4027732" cy="180000"/>
            </a:xfrm>
            <a:prstGeom prst="rect">
              <a:avLst/>
            </a:prstGeom>
            <a:solidFill>
              <a:srgbClr val="FF99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sp>
        <p:nvSpPr>
          <p:cNvPr id="4" name="CuadroTexto 3">
            <a:extLst>
              <a:ext uri="{FF2B5EF4-FFF2-40B4-BE49-F238E27FC236}">
                <a16:creationId xmlns:a16="http://schemas.microsoft.com/office/drawing/2014/main" id="{57EE20B0-227A-0C24-551E-A8B638BB6615}"/>
              </a:ext>
            </a:extLst>
          </p:cNvPr>
          <p:cNvSpPr txBox="1"/>
          <p:nvPr/>
        </p:nvSpPr>
        <p:spPr>
          <a:xfrm>
            <a:off x="1308100" y="2092325"/>
            <a:ext cx="4264025" cy="2339102"/>
          </a:xfrm>
          <a:prstGeom prst="rect">
            <a:avLst/>
          </a:prstGeom>
          <a:noFill/>
        </p:spPr>
        <p:txBody>
          <a:bodyPr wrap="square" rtlCol="0">
            <a:spAutoFit/>
          </a:bodyPr>
          <a:lstStyle/>
          <a:p>
            <a:r>
              <a:rPr lang="es-CL" b="1" dirty="0">
                <a:latin typeface="Arial" panose="020B0604020202020204" pitchFamily="34" charset="0"/>
                <a:cs typeface="Arial" panose="020B0604020202020204" pitchFamily="34" charset="0"/>
              </a:rPr>
              <a:t>En esta presentación, hemos visto:</a:t>
            </a:r>
          </a:p>
          <a:p>
            <a:endParaRPr lang="es-CL" b="1"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q"/>
            </a:pPr>
            <a:r>
              <a:rPr lang="es-ES" dirty="0">
                <a:latin typeface="Arial" panose="020B0604020202020204" pitchFamily="34" charset="0"/>
                <a:cs typeface="Arial" panose="020B0604020202020204" pitchFamily="34" charset="0"/>
              </a:rPr>
              <a:t>Introducción a Minería de Datos</a:t>
            </a:r>
          </a:p>
          <a:p>
            <a:pPr marL="457200" indent="-457200">
              <a:buFont typeface="Wingdings" panose="05000000000000000000" pitchFamily="2" charset="2"/>
              <a:buChar char="q"/>
            </a:pPr>
            <a:endParaRPr lang="es-ES"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q"/>
            </a:pPr>
            <a:r>
              <a:rPr lang="es-ES" dirty="0">
                <a:latin typeface="Arial" panose="020B0604020202020204" pitchFamily="34" charset="0"/>
                <a:cs typeface="Arial" panose="020B0604020202020204" pitchFamily="34" charset="0"/>
              </a:rPr>
              <a:t>Disciplinas involucradas</a:t>
            </a:r>
          </a:p>
          <a:p>
            <a:pPr marL="457200" indent="-457200">
              <a:buFont typeface="Wingdings" panose="05000000000000000000" pitchFamily="2" charset="2"/>
              <a:buChar char="q"/>
            </a:pPr>
            <a:endParaRPr lang="es-ES"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q"/>
            </a:pPr>
            <a:r>
              <a:rPr lang="es-ES" dirty="0">
                <a:latin typeface="Arial" panose="020B0604020202020204" pitchFamily="34" charset="0"/>
                <a:cs typeface="Arial" panose="020B0604020202020204" pitchFamily="34" charset="0"/>
              </a:rPr>
              <a:t>Aplicaciones</a:t>
            </a:r>
          </a:p>
          <a:p>
            <a:pPr algn="just"/>
            <a:endParaRPr lang="es-CL" sz="2000" dirty="0"/>
          </a:p>
        </p:txBody>
      </p:sp>
      <p:sp>
        <p:nvSpPr>
          <p:cNvPr id="7" name="Título 1">
            <a:extLst>
              <a:ext uri="{FF2B5EF4-FFF2-40B4-BE49-F238E27FC236}">
                <a16:creationId xmlns:a16="http://schemas.microsoft.com/office/drawing/2014/main" id="{CD925CB0-E6FE-73CF-014D-ECCC9BFEED0D}"/>
              </a:ext>
            </a:extLst>
          </p:cNvPr>
          <p:cNvSpPr txBox="1">
            <a:spLocks/>
          </p:cNvSpPr>
          <p:nvPr/>
        </p:nvSpPr>
        <p:spPr>
          <a:xfrm>
            <a:off x="9793044" y="565555"/>
            <a:ext cx="2103682" cy="73866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CL" sz="3200" b="1" dirty="0"/>
              <a:t>RESUMEN</a:t>
            </a:r>
          </a:p>
        </p:txBody>
      </p:sp>
      <p:sp>
        <p:nvSpPr>
          <p:cNvPr id="12" name="Rectángulo 11">
            <a:extLst>
              <a:ext uri="{FF2B5EF4-FFF2-40B4-BE49-F238E27FC236}">
                <a16:creationId xmlns:a16="http://schemas.microsoft.com/office/drawing/2014/main" id="{8446CAFD-2939-6BF9-7813-E4FDEA8F7FB0}"/>
              </a:ext>
            </a:extLst>
          </p:cNvPr>
          <p:cNvSpPr/>
          <p:nvPr/>
        </p:nvSpPr>
        <p:spPr>
          <a:xfrm>
            <a:off x="11816102" y="759588"/>
            <a:ext cx="390525" cy="544631"/>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91024870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1150</Words>
  <Application>Microsoft Office PowerPoint</Application>
  <PresentationFormat>Panorámica</PresentationFormat>
  <Paragraphs>116</Paragraphs>
  <Slides>18</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18</vt:i4>
      </vt:variant>
    </vt:vector>
  </HeadingPairs>
  <TitlesOfParts>
    <vt:vector size="25" baseType="lpstr">
      <vt:lpstr>Aptos</vt:lpstr>
      <vt:lpstr>Aptos Display</vt:lpstr>
      <vt:lpstr>Arial</vt:lpstr>
      <vt:lpstr>Arial Black</vt:lpstr>
      <vt:lpstr>Calibri</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Pablo Silva</dc:creator>
  <cp:lastModifiedBy>Pablo Silva</cp:lastModifiedBy>
  <cp:revision>1</cp:revision>
  <dcterms:created xsi:type="dcterms:W3CDTF">2026-03-20T20:35:02Z</dcterms:created>
  <dcterms:modified xsi:type="dcterms:W3CDTF">2026-03-20T21:30:00Z</dcterms:modified>
</cp:coreProperties>
</file>