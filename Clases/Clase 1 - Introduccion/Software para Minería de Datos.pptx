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5" r:id="rId4"/>
    <p:sldId id="263" r:id="rId5"/>
    <p:sldId id="277" r:id="rId6"/>
    <p:sldId id="278" r:id="rId7"/>
    <p:sldId id="279" r:id="rId8"/>
    <p:sldId id="257" r:id="rId9"/>
    <p:sldId id="267" r:id="rId10"/>
    <p:sldId id="286" r:id="rId11"/>
    <p:sldId id="280" r:id="rId12"/>
    <p:sldId id="287" r:id="rId13"/>
    <p:sldId id="288" r:id="rId14"/>
    <p:sldId id="289" r:id="rId15"/>
    <p:sldId id="282" r:id="rId16"/>
    <p:sldId id="284" r:id="rId17"/>
    <p:sldId id="291" r:id="rId18"/>
    <p:sldId id="285" r:id="rId19"/>
    <p:sldId id="292" r:id="rId20"/>
    <p:sldId id="300" r:id="rId21"/>
    <p:sldId id="293" r:id="rId22"/>
    <p:sldId id="273" r:id="rId23"/>
    <p:sldId id="272" r:id="rId24"/>
    <p:sldId id="294" r:id="rId25"/>
    <p:sldId id="295" r:id="rId26"/>
    <p:sldId id="296" r:id="rId27"/>
    <p:sldId id="297" r:id="rId28"/>
    <p:sldId id="298" r:id="rId29"/>
    <p:sldId id="299" r:id="rId30"/>
    <p:sldId id="274" r:id="rId31"/>
    <p:sldId id="275" r:id="rId3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2028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3FD59-557B-CD87-7FDC-7F0ADDA8A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E9AE0-37AC-3FF0-9954-DBED8B04F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FF40BE-140C-61FC-EC82-0538890E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DDB10C-307C-CE4F-B6BA-F1F6E5BE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DD5DB-814D-8189-B913-5F5AEA55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839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1D209-50DA-B024-5242-EECABEBD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77176-D84D-FDC1-E07E-5584611E3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5F044-B13A-76E6-E4EC-45407D9E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DA8B20-74CE-0966-66B1-B8DA2389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ACEAE5-27E8-02D1-2620-C19CB372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52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3BF15-E16C-2455-8BA3-C2A85A50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6C4E7E-E0B8-59B7-D1DE-FD85793AD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DEBCAA-E940-50FB-C4EB-F9603218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F95E8B-5B20-D5E3-E3F1-A8B6F446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F468D-3E36-7C7F-E811-5C59997F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03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AE552-1057-17D5-F751-3D24FFF4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71B28C-938B-2554-5E7B-036F60113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206447-1E8A-3407-52A2-B7B188A55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32E25-C9EC-BDDC-ECB3-08E2987E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862005-35E3-786F-2E35-0CB03DE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43C02C-4E96-1568-7E60-F9FFD547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839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C2FFA-6B1E-D353-9532-DB9B89FE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F44D8F-AFC8-7EA5-1272-3E144E9A0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63F97C-B0EF-C89D-1D82-038405A78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97B3D1-2644-F35B-CF82-58B4805F5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8F9436-1FF6-012F-97C9-AFC20ED9D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5BC754-43C2-F1E3-6226-94565FA7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D2992E3-419A-E756-9302-E5F01D93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A948F6-DCF1-5F2B-0064-4AB83617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161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77229-156A-E305-0F97-4569F000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71A85E-CA5B-F449-8945-71DBBC54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8B6C1F-5D5B-367C-68E2-98279F03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101194-EE79-3BAE-F1FA-11B24B06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4682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B05901-8CE0-56C7-1A8E-D8A6D5F4D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931F90-1D24-BCCD-679A-15987134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5DBF0E-D19F-730C-DBA1-B010F85B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217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7CA1A-4D5F-98D9-4D2E-6EA68761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B69EF7-B9C6-4EE5-2BBF-C1A89EE8C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38536C-FCEF-08A7-BBF9-63DDEAE4E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31DC8D-E1E3-C50B-44C5-EC9A6C61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35EA24-E27E-CA2B-AB88-C1845912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062DEB-7E7F-1F35-3607-9A828668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371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B2505-B799-647B-F263-80665CCB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ED30F4-E5F1-951B-46CB-DC5ABDEF2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BA9A67-020C-855A-E112-EDF60AF6F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022791-2F8F-9DCC-F96D-190164A9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FD5993-8A5F-799B-3E79-8BACBA1B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2C2F84-2B45-C4F1-AB92-033CB47C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921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CF0C1-91DD-566A-3290-D2AB15BA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D7B0D9-C050-19DC-7803-006D8CB74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23C020-9E6E-B79E-A187-0E9ACC13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040236-EFB3-BAEA-F4DA-44175389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5FE842-A3E2-BFB5-6767-AC510F34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839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0C7923-2D25-4A7D-6D7F-50FF90E0F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0B35F1-CC19-1CFE-3636-28DBFCA33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E2557B-BB31-B482-1BB5-AC7A7D31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B813F9-9139-ADAD-EDAC-0977998C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35FF4B-600F-CB23-84A7-1241B15D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522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AD948E-DAF5-789A-7072-804B1EC7E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A64ADD-3E13-2F6C-F237-2754AD72F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EA1E3-0429-BAA8-D24B-2E97264E4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2C064-C746-4804-AFA0-09BED53D9172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5BC2A-EC9A-6EF7-400A-71D43E4DC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2BD904-95F1-0172-8242-A97EF2B66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0C071-EE16-40D1-B2EA-0807200434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71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ascientest.com/es/python-o-r-que-elegir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9DB6D60-3F88-78DB-1A15-E493CF364A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701"/>
          <a:stretch>
            <a:fillRect/>
          </a:stretch>
        </p:blipFill>
        <p:spPr>
          <a:xfrm>
            <a:off x="0" y="1076787"/>
            <a:ext cx="12192000" cy="57812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E431753-3975-0A7E-B9CD-85C5F395008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6" y="280988"/>
            <a:ext cx="1943100" cy="72466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BC6525C-531D-228A-9125-B67B0C971B0E}"/>
              </a:ext>
            </a:extLst>
          </p:cNvPr>
          <p:cNvSpPr txBox="1"/>
          <p:nvPr/>
        </p:nvSpPr>
        <p:spPr>
          <a:xfrm>
            <a:off x="2124076" y="4515535"/>
            <a:ext cx="3305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MANEJO </a:t>
            </a:r>
            <a:r>
              <a:rPr lang="es-CL" sz="2400" b="1" dirty="0" smtClean="0">
                <a:solidFill>
                  <a:schemeClr val="bg1"/>
                </a:solidFill>
              </a:rPr>
              <a:t>DE PYTHON</a:t>
            </a:r>
            <a:endParaRPr lang="es-CL" sz="2400" b="1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B13A4F-1461-E2EC-EDB4-8D47A9B0AE7E}"/>
              </a:ext>
            </a:extLst>
          </p:cNvPr>
          <p:cNvSpPr/>
          <p:nvPr/>
        </p:nvSpPr>
        <p:spPr>
          <a:xfrm>
            <a:off x="9267825" y="2962275"/>
            <a:ext cx="1190625" cy="38957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D63BF26-ABA4-0005-87BC-88D77773647A}"/>
              </a:ext>
            </a:extLst>
          </p:cNvPr>
          <p:cNvSpPr/>
          <p:nvPr/>
        </p:nvSpPr>
        <p:spPr>
          <a:xfrm>
            <a:off x="9267824" y="1217179"/>
            <a:ext cx="1190625" cy="1139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931EC933-35B2-DA69-A81F-68C7F3F551FF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8AD8F31D-DD97-E178-E806-E31B45A14ADB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FAAEB192-904A-4D3D-BBEA-251B97597B1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62EB97BB-9C1D-EFD6-E715-4256D7F78CE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A2F15324-F052-54DD-C9A8-D2C8195FADE0}"/>
              </a:ext>
            </a:extLst>
          </p:cNvPr>
          <p:cNvCxnSpPr/>
          <p:nvPr/>
        </p:nvCxnSpPr>
        <p:spPr>
          <a:xfrm>
            <a:off x="2009775" y="4048125"/>
            <a:ext cx="0" cy="154305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95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B4FFA-7EE7-B8FF-5379-6C3A824A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CC792A-ABFD-F02B-6F02-25968A42D68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6" y="280988"/>
            <a:ext cx="1943100" cy="724662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1BBD25D-76A8-47C4-9808-AD4B10FE6B9D}"/>
              </a:ext>
            </a:extLst>
          </p:cNvPr>
          <p:cNvSpPr/>
          <p:nvPr/>
        </p:nvSpPr>
        <p:spPr>
          <a:xfrm>
            <a:off x="5346700" y="1005650"/>
            <a:ext cx="26003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0A6CE02-0C04-7C4A-E337-CFC522FA5DF2}"/>
              </a:ext>
            </a:extLst>
          </p:cNvPr>
          <p:cNvSpPr txBox="1">
            <a:spLocks/>
          </p:cNvSpPr>
          <p:nvPr/>
        </p:nvSpPr>
        <p:spPr>
          <a:xfrm>
            <a:off x="5445312" y="1928374"/>
            <a:ext cx="1066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3CAC78E-5440-13CA-DC3B-7037165246C0}"/>
              </a:ext>
            </a:extLst>
          </p:cNvPr>
          <p:cNvSpPr txBox="1">
            <a:spLocks/>
          </p:cNvSpPr>
          <p:nvPr/>
        </p:nvSpPr>
        <p:spPr>
          <a:xfrm>
            <a:off x="5445311" y="3530477"/>
            <a:ext cx="457909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 smtClean="0"/>
              <a:t>NUMPY</a:t>
            </a:r>
            <a:endParaRPr lang="es-CL" sz="28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BB9CE1A-B6E3-BE3F-BB90-7F7F6753083A}"/>
              </a:ext>
            </a:extLst>
          </p:cNvPr>
          <p:cNvSpPr txBox="1">
            <a:spLocks/>
          </p:cNvSpPr>
          <p:nvPr/>
        </p:nvSpPr>
        <p:spPr>
          <a:xfrm>
            <a:off x="5385174" y="3147455"/>
            <a:ext cx="1066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8DAD282-17D5-267A-DC8E-E740E6C370A8}"/>
              </a:ext>
            </a:extLst>
          </p:cNvPr>
          <p:cNvSpPr txBox="1">
            <a:spLocks/>
          </p:cNvSpPr>
          <p:nvPr/>
        </p:nvSpPr>
        <p:spPr>
          <a:xfrm>
            <a:off x="5445311" y="5186177"/>
            <a:ext cx="416597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 smtClean="0"/>
              <a:t>PANDAS</a:t>
            </a:r>
            <a:endParaRPr lang="es-CL" sz="2800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E85DE42-B8C9-140D-E74A-39EF96BAEDD4}"/>
              </a:ext>
            </a:extLst>
          </p:cNvPr>
          <p:cNvSpPr txBox="1">
            <a:spLocks/>
          </p:cNvSpPr>
          <p:nvPr/>
        </p:nvSpPr>
        <p:spPr>
          <a:xfrm>
            <a:off x="5385174" y="4685816"/>
            <a:ext cx="1066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  <a:endParaRPr lang="es-CL" sz="28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91B368D-99FF-464E-8631-479EB5242940}"/>
              </a:ext>
            </a:extLst>
          </p:cNvPr>
          <p:cNvSpPr txBox="1">
            <a:spLocks/>
          </p:cNvSpPr>
          <p:nvPr/>
        </p:nvSpPr>
        <p:spPr>
          <a:xfrm>
            <a:off x="5445312" y="2305664"/>
            <a:ext cx="457909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 smtClean="0"/>
              <a:t>PYTHON</a:t>
            </a:r>
            <a:endParaRPr lang="es-CL" sz="2800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7C6D17-A626-BCEF-4DD2-55DC233389BF}"/>
              </a:ext>
            </a:extLst>
          </p:cNvPr>
          <p:cNvSpPr txBox="1">
            <a:spLocks/>
          </p:cNvSpPr>
          <p:nvPr/>
        </p:nvSpPr>
        <p:spPr>
          <a:xfrm>
            <a:off x="9090719" y="5294695"/>
            <a:ext cx="472888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2800" dirty="0"/>
              <a:t>RESUMEN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CF6ACCD-3EA3-CB30-89A8-C28E8ED3282B}"/>
              </a:ext>
            </a:extLst>
          </p:cNvPr>
          <p:cNvSpPr txBox="1">
            <a:spLocks/>
          </p:cNvSpPr>
          <p:nvPr/>
        </p:nvSpPr>
        <p:spPr>
          <a:xfrm>
            <a:off x="9090719" y="4863808"/>
            <a:ext cx="1066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05</a:t>
            </a:r>
            <a:endParaRPr lang="es-CL" sz="28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515A3A8-E762-76CB-7B64-5E874C37876E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6B40A44-15C7-7942-35E7-EC48BA29C83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464BAE6-238B-AC5E-C126-8907DBB04BEC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45DD13B-AE0B-F02B-BE87-3FD0E24D4F8E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88DAD282-17D5-267A-DC8E-E740E6C370A8}"/>
              </a:ext>
            </a:extLst>
          </p:cNvPr>
          <p:cNvSpPr txBox="1">
            <a:spLocks/>
          </p:cNvSpPr>
          <p:nvPr/>
        </p:nvSpPr>
        <p:spPr>
          <a:xfrm>
            <a:off x="9090719" y="3480082"/>
            <a:ext cx="416597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 smtClean="0"/>
              <a:t>EJERCICIOS</a:t>
            </a:r>
            <a:endParaRPr lang="es-CL" sz="2800" dirty="0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CE85DE42-B8C9-140D-E74A-39EF96BAEDD4}"/>
              </a:ext>
            </a:extLst>
          </p:cNvPr>
          <p:cNvSpPr txBox="1">
            <a:spLocks/>
          </p:cNvSpPr>
          <p:nvPr/>
        </p:nvSpPr>
        <p:spPr>
          <a:xfrm>
            <a:off x="9030582" y="2979721"/>
            <a:ext cx="1066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28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58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3F1F8-3C7A-D093-617D-14F05329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783F8-0AD4-153D-667A-2B88D510DC22}"/>
              </a:ext>
            </a:extLst>
          </p:cNvPr>
          <p:cNvSpPr txBox="1">
            <a:spLocks/>
          </p:cNvSpPr>
          <p:nvPr/>
        </p:nvSpPr>
        <p:spPr>
          <a:xfrm>
            <a:off x="1028700" y="5302250"/>
            <a:ext cx="10134600" cy="10156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6600" dirty="0" smtClean="0"/>
              <a:t>PYTHON</a:t>
            </a:r>
            <a:endParaRPr lang="es-CL" sz="66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4000361-B2C8-18DB-3106-B4D45A3786D8}"/>
              </a:ext>
            </a:extLst>
          </p:cNvPr>
          <p:cNvSpPr txBox="1">
            <a:spLocks/>
          </p:cNvSpPr>
          <p:nvPr/>
        </p:nvSpPr>
        <p:spPr>
          <a:xfrm>
            <a:off x="9292981" y="38249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  <a:endParaRPr lang="es-CL" sz="96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1E08748-27EB-771F-E6C9-CAC8BA736401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AF76F9D0-6FD6-1C3E-666C-C8F009A1BFE7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A2DAEEC8-DB5A-A350-21DD-A367CE2FFA2D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BB816D4-5CA3-0762-15C1-47CF9B627747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B5CB445-174F-7D07-F0B8-92C25A60080A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25418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E4DA-3907-9268-88BD-B8C7AD7D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DF646C-16F6-506F-10D9-44753A0BACB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20EA56E2-DA60-5295-EF26-AAC78579B10D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F0F9BF4-792A-D6C0-33BD-33863B6AB8F0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33FDD16-C428-9B63-5F1A-655AFFAC7D65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E208B52-304A-9A0B-829C-44D327305AA5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AA4E899D-C569-7E42-5119-51560C08CA1C}"/>
              </a:ext>
            </a:extLst>
          </p:cNvPr>
          <p:cNvSpPr txBox="1">
            <a:spLocks/>
          </p:cNvSpPr>
          <p:nvPr/>
        </p:nvSpPr>
        <p:spPr>
          <a:xfrm>
            <a:off x="0" y="234592"/>
            <a:ext cx="3856779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/>
              <a:t>INTRODUCCIÓN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1D4FA5-A42F-802B-E615-D4913CD07C9A}"/>
              </a:ext>
            </a:extLst>
          </p:cNvPr>
          <p:cNvSpPr/>
          <p:nvPr/>
        </p:nvSpPr>
        <p:spPr>
          <a:xfrm>
            <a:off x="-9525" y="428625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1059147" y="1752119"/>
            <a:ext cx="60261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Python es un lenguaje de programación </a:t>
            </a:r>
            <a:r>
              <a:rPr lang="es-ES" sz="2400" u="sng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interpretado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 cuya filosofía hace hincapié en una sintaxis que favorezca un código legible.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Se trata de un lenguaje de programación multiparadigma, ya que soporta orientación a objetos, programación imperativa y programación funcional (en menor medida)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623F22C7-B6A8-91F4-27E1-9EB6EED92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309" y="2395190"/>
            <a:ext cx="3482895" cy="217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99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E4DA-3907-9268-88BD-B8C7AD7D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DF646C-16F6-506F-10D9-44753A0BACB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BABE1B3-8489-A67E-F775-0860F8F96E9A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0EA56E2-DA60-5295-EF26-AAC78579B10D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F0F9BF4-792A-D6C0-33BD-33863B6AB8F0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33FDD16-C428-9B63-5F1A-655AFFAC7D65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E208B52-304A-9A0B-829C-44D327305AA5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AA4E899D-C569-7E42-5119-51560C08CA1C}"/>
              </a:ext>
            </a:extLst>
          </p:cNvPr>
          <p:cNvSpPr txBox="1">
            <a:spLocks/>
          </p:cNvSpPr>
          <p:nvPr/>
        </p:nvSpPr>
        <p:spPr>
          <a:xfrm>
            <a:off x="0" y="234592"/>
            <a:ext cx="3856779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/>
              <a:t>INTRODUCCIÓN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1D4FA5-A42F-802B-E615-D4913CD07C9A}"/>
              </a:ext>
            </a:extLst>
          </p:cNvPr>
          <p:cNvSpPr/>
          <p:nvPr/>
        </p:nvSpPr>
        <p:spPr>
          <a:xfrm>
            <a:off x="-9525" y="428625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536575" y="1230679"/>
            <a:ext cx="628332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Anaconda es una distribución gratuita y de código abierto de los lenguajes de programación Python y R para procesamiento de datos a gran escala, análisis predictivo y computación científica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cuyo objetivo es simplificar la administración y la implementación de paquetes.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Facilita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instalación de todas las bibliotecas y paquetes que necesita para un proyecto Python de una sola vez.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Todo lo que tiene que hacer es crear un "entorno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conda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" para su proyecto y luego instalar las bibliotecas requeridas usando el comando "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conda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  <a:endParaRPr lang="es-C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98EB5C9-4177-8A07-1C06-229BBE442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270" y="2162175"/>
            <a:ext cx="3894667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58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E4DA-3907-9268-88BD-B8C7AD7D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DF646C-16F6-506F-10D9-44753A0BACB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BABE1B3-8489-A67E-F775-0860F8F96E9A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0EA56E2-DA60-5295-EF26-AAC78579B10D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F0F9BF4-792A-D6C0-33BD-33863B6AB8F0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33FDD16-C428-9B63-5F1A-655AFFAC7D65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E208B52-304A-9A0B-829C-44D327305AA5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AA4E899D-C569-7E42-5119-51560C08CA1C}"/>
              </a:ext>
            </a:extLst>
          </p:cNvPr>
          <p:cNvSpPr txBox="1">
            <a:spLocks/>
          </p:cNvSpPr>
          <p:nvPr/>
        </p:nvSpPr>
        <p:spPr>
          <a:xfrm>
            <a:off x="0" y="234592"/>
            <a:ext cx="3856779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/>
              <a:t>INTRODUCCIÓN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1D4FA5-A42F-802B-E615-D4913CD07C9A}"/>
              </a:ext>
            </a:extLst>
          </p:cNvPr>
          <p:cNvSpPr/>
          <p:nvPr/>
        </p:nvSpPr>
        <p:spPr>
          <a:xfrm>
            <a:off x="-9525" y="428625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677016" y="1027848"/>
            <a:ext cx="635952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buClr>
                <a:srgbClr val="000000"/>
              </a:buClr>
              <a:buSzPts val="2800"/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Colaboratory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comúnmente conocido como </a:t>
            </a:r>
            <a:r>
              <a:rPr lang="es-E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COLAB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 un servicio gratuito en la nube proporcionado por Google. </a:t>
            </a:r>
          </a:p>
          <a:p>
            <a:pPr algn="just" rtl="0">
              <a:buClr>
                <a:srgbClr val="000000"/>
              </a:buClr>
              <a:buSzPts val="2800"/>
            </a:pPr>
            <a:endParaRPr lang="es-E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rtl="0">
              <a:buClr>
                <a:srgbClr val="000000"/>
              </a:buClr>
              <a:buSzPts val="2800"/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 a los usuarios escribir y ejecutar código Python a través del navegador, sin necesidad de ninguna configuración previa. </a:t>
            </a:r>
          </a:p>
          <a:p>
            <a:pPr algn="just" rtl="0">
              <a:buClr>
                <a:srgbClr val="000000"/>
              </a:buClr>
              <a:buSzPts val="2800"/>
            </a:pPr>
            <a:endParaRPr lang="es-E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rtl="0">
              <a:buClr>
                <a:srgbClr val="000000"/>
              </a:buClr>
              <a:buSzPts val="2800"/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particularmente popular para ciencia de datos, por varias razones:</a:t>
            </a:r>
          </a:p>
          <a:p>
            <a:pPr algn="just" rtl="0">
              <a:buClr>
                <a:srgbClr val="000000"/>
              </a:buClr>
              <a:buSzPts val="2800"/>
            </a:pPr>
            <a:endParaRPr lang="es-E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s-ES" sz="2000" i="0" dirty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requiere </a:t>
            </a: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configuración adicional</a:t>
            </a:r>
            <a:endParaRPr lang="es-ES" sz="2000" i="0" dirty="0">
              <a:solidFill>
                <a:srgbClr val="15171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Facilidad para colaboración </a:t>
            </a:r>
            <a:r>
              <a:rPr lang="es-ES" sz="2000" i="0" dirty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compartir</a:t>
            </a:r>
            <a:endParaRPr lang="es-ES" sz="2000" i="0" dirty="0">
              <a:solidFill>
                <a:srgbClr val="15171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Acceso </a:t>
            </a:r>
            <a:r>
              <a:rPr lang="es-ES" sz="2000" i="0" dirty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gratuito a </a:t>
            </a: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GPU (bajo ciertos límites)</a:t>
            </a:r>
            <a:endParaRPr lang="es-ES" sz="2000" i="0" dirty="0">
              <a:solidFill>
                <a:srgbClr val="15171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Entorno </a:t>
            </a:r>
            <a:r>
              <a:rPr lang="es-ES" sz="2000" i="0" dirty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Codificación </a:t>
            </a:r>
            <a:r>
              <a:rPr lang="es-ES" sz="2000" i="0" dirty="0" smtClean="0">
                <a:solidFill>
                  <a:srgbClr val="1517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Interactivo</a:t>
            </a:r>
            <a:endParaRPr lang="es-ES" sz="2000" i="0" dirty="0">
              <a:solidFill>
                <a:srgbClr val="15171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2DB864E6-3FA0-F5AB-B750-5F3235203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2297311"/>
            <a:ext cx="3739091" cy="210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28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E4DA-3907-9268-88BD-B8C7AD7D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DF646C-16F6-506F-10D9-44753A0BACB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BABE1B3-8489-A67E-F775-0860F8F96E9A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0EA56E2-DA60-5295-EF26-AAC78579B10D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F0F9BF4-792A-D6C0-33BD-33863B6AB8F0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33FDD16-C428-9B63-5F1A-655AFFAC7D65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E208B52-304A-9A0B-829C-44D327305AA5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AA4E899D-C569-7E42-5119-51560C08CA1C}"/>
              </a:ext>
            </a:extLst>
          </p:cNvPr>
          <p:cNvSpPr txBox="1">
            <a:spLocks/>
          </p:cNvSpPr>
          <p:nvPr/>
        </p:nvSpPr>
        <p:spPr>
          <a:xfrm>
            <a:off x="0" y="234592"/>
            <a:ext cx="3856779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/>
              <a:t>INTRODUCCIÓN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1D4FA5-A42F-802B-E615-D4913CD07C9A}"/>
              </a:ext>
            </a:extLst>
          </p:cNvPr>
          <p:cNvSpPr/>
          <p:nvPr/>
        </p:nvSpPr>
        <p:spPr>
          <a:xfrm>
            <a:off x="-9525" y="428625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/>
          <p:cNvSpPr txBox="1"/>
          <p:nvPr/>
        </p:nvSpPr>
        <p:spPr>
          <a:xfrm>
            <a:off x="590550" y="1027848"/>
            <a:ext cx="711517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JupyterLab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es la interfaz de usuario de nueva generación para el Proyecto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diseñada como un entorno de desarrollo interactivo (IDE) basado en la web para ciencia de datos, computación científica y aprendizaje automático. Permite gestionar múltiples cuadernos (notebooks), código, datos y visualizaciones en una sola ventana modular y personalizable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Principales: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Entorno Integrado: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Facilita el uso de notebooks (.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ipynb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), terminales, editores de texto y visualizadores de archivos (CSV, JSON, imágenes) en una misma interfaz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Interfaz Modular: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Diseño flexible que permite arrastrar y soltar pestañas, dividir la pantalla y organizar el espacio de trabajo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98" y="1780888"/>
            <a:ext cx="3083871" cy="310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8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ADDE-A40E-DA70-CBA0-AA302167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8A452-A946-75C7-725F-9E0FB496C9DC}"/>
              </a:ext>
            </a:extLst>
          </p:cNvPr>
          <p:cNvSpPr txBox="1">
            <a:spLocks/>
          </p:cNvSpPr>
          <p:nvPr/>
        </p:nvSpPr>
        <p:spPr>
          <a:xfrm>
            <a:off x="1116000" y="5302250"/>
            <a:ext cx="10134600" cy="10156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6600" dirty="0" err="1" smtClean="0"/>
              <a:t>Numpy</a:t>
            </a:r>
            <a:endParaRPr lang="es-CL" sz="66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4EA368D-45F4-6351-F16E-F4A717A39638}"/>
              </a:ext>
            </a:extLst>
          </p:cNvPr>
          <p:cNvSpPr txBox="1">
            <a:spLocks/>
          </p:cNvSpPr>
          <p:nvPr/>
        </p:nvSpPr>
        <p:spPr>
          <a:xfrm>
            <a:off x="9292981" y="38249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A1A1B0-ACBC-1C39-BCA5-FA5196575208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E65E34-2F41-61A3-D8D3-B728EE016146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02D14F3-612A-5465-A52F-AD0D4C507A0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C2FE712-26E6-7CCD-5B54-23AC22F4FDEA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A5D1DDF-7E91-068D-813C-787789B37078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987" y="2088987"/>
            <a:ext cx="2806864" cy="28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3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661390" y="2034064"/>
            <a:ext cx="68230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 es una librería de Python especializada en el cálculo numérico y el análisis de datos, especialmente para un gran volumen de datos.</a:t>
            </a: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Incorpora una nueva clase de objetos llamados </a:t>
            </a:r>
            <a:r>
              <a:rPr lang="es-E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 que permite representar colecciones de datos de un mismo tipo en varias dimensiones, y funciones muy eficientes para su manipulación.</a:t>
            </a: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EAF0CC6-851A-0950-B1AF-78B78606E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468" y="2417858"/>
            <a:ext cx="3401222" cy="174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66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661390" y="1699141"/>
            <a:ext cx="682309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ventaja de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frente a las listas predefinidas en Python es que el procesamiento de los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se realiza mucho más rápido (hasta 50 veces más) que las listas, lo cual la hace ideal para el procesamiento de vectores y matrices de grandes dimensiones.</a:t>
            </a:r>
          </a:p>
          <a:p>
            <a:pPr algn="just"/>
            <a:endParaRPr lang="es-CL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EAF0CC6-851A-0950-B1AF-78B78606E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468" y="2417858"/>
            <a:ext cx="3401222" cy="174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387" t="434" r="-1"/>
          <a:stretch/>
        </p:blipFill>
        <p:spPr>
          <a:xfrm>
            <a:off x="3456432" y="3511295"/>
            <a:ext cx="2377440" cy="260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8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956256" y="1514475"/>
            <a:ext cx="567429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La clase objetos ARRAY.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Un array es una estructura de datos de un mismo tipo organizada en forma de tabla o cuadrícula de distintas dimensiones.</a:t>
            </a:r>
          </a:p>
          <a:p>
            <a:pPr algn="just"/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Las dimensiones de un array también se conocen como ejes</a:t>
            </a:r>
          </a:p>
          <a:p>
            <a:pPr algn="just"/>
            <a:endParaRPr lang="es-ES" sz="2000" dirty="0"/>
          </a:p>
          <a:p>
            <a:pPr algn="just"/>
            <a:endParaRPr lang="es-ES" sz="2000" dirty="0"/>
          </a:p>
          <a:p>
            <a:pPr algn="just"/>
            <a:endParaRPr lang="es-CL" sz="2000" dirty="0"/>
          </a:p>
        </p:txBody>
      </p:sp>
      <p:pic>
        <p:nvPicPr>
          <p:cNvPr id="17" name="Picture 5" descr="numpy_arrays">
            <a:extLst>
              <a:ext uri="{FF2B5EF4-FFF2-40B4-BE49-F238E27FC236}">
                <a16:creationId xmlns:a16="http://schemas.microsoft.com/office/drawing/2014/main" id="{806292F8-CE34-4743-7C2C-E86567E98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454" y="2083832"/>
            <a:ext cx="4307016" cy="240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56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/>
          <p:cNvSpPr/>
          <p:nvPr/>
        </p:nvSpPr>
        <p:spPr>
          <a:xfrm>
            <a:off x="1024936" y="701005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Creación de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Para crear un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se utiliza la siguiente función de 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1123950" y="4812963"/>
            <a:ext cx="9396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Un arreglo que contiene una lista simple de elementos se llama </a:t>
            </a:r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 o 1D-array.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6" y="2024444"/>
            <a:ext cx="10145541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90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1"/>
          <p:cNvSpPr/>
          <p:nvPr/>
        </p:nvSpPr>
        <p:spPr>
          <a:xfrm>
            <a:off x="1287434" y="1881366"/>
            <a:ext cx="71330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arreglo con filas y columnas se denomina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matriz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2D-array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2446784"/>
            <a:ext cx="10431331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60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1"/>
          <p:cNvSpPr/>
          <p:nvPr/>
        </p:nvSpPr>
        <p:spPr>
          <a:xfrm>
            <a:off x="1123950" y="1304219"/>
            <a:ext cx="92676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los arreglos de 3 dimensiones o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más se les denomina Tensores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001" y="1673551"/>
            <a:ext cx="8883263" cy="3979637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1354985" y="5650876"/>
            <a:ext cx="108516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i="1" dirty="0">
                <a:latin typeface="Arial" panose="020B0604020202020204" pitchFamily="34" charset="0"/>
                <a:cs typeface="Arial" panose="020B0604020202020204" pitchFamily="34" charset="0"/>
              </a:rPr>
              <a:t>No hay límite en el número de dimensiones del </a:t>
            </a:r>
            <a:r>
              <a:rPr lang="es-E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es-ES" sz="1600" i="1" dirty="0">
                <a:latin typeface="Arial" panose="020B0604020202020204" pitchFamily="34" charset="0"/>
                <a:cs typeface="Arial" panose="020B0604020202020204" pitchFamily="34" charset="0"/>
              </a:rPr>
              <a:t> más allá de la memoria disponible en el sistema.</a:t>
            </a:r>
            <a:endParaRPr lang="es-CL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58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123950" y="1647296"/>
            <a:ext cx="10000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Acceso a los elementos de un array.</a:t>
            </a:r>
          </a:p>
          <a:p>
            <a:pPr algn="just"/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Para acceder a los elementos contenidos en un array se usan índices al igual que para acceder a los elementos de una lista, pero indicando los índices de cada dimensión separados por comas</a:t>
            </a:r>
            <a:r>
              <a:rPr lang="es-E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3067591"/>
            <a:ext cx="10145541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64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517524" y="1304219"/>
            <a:ext cx="96871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/>
              <a:t>Operaciones matemáticas con </a:t>
            </a:r>
            <a:r>
              <a:rPr lang="es-ES" sz="1600" b="1" dirty="0" err="1"/>
              <a:t>arrays</a:t>
            </a:r>
            <a:endParaRPr lang="es-ES" sz="1600" b="1" dirty="0"/>
          </a:p>
          <a:p>
            <a:pPr algn="just"/>
            <a:endParaRPr lang="es-ES" sz="1600" dirty="0"/>
          </a:p>
          <a:p>
            <a:pPr algn="just"/>
            <a:r>
              <a:rPr lang="es-ES" sz="1600" dirty="0" smtClean="0"/>
              <a:t>Existen dos formas de realizar operaciones matemáticas con </a:t>
            </a:r>
            <a:r>
              <a:rPr lang="es-ES" sz="1600" dirty="0" err="1" smtClean="0"/>
              <a:t>arrays</a:t>
            </a:r>
            <a:r>
              <a:rPr lang="es-ES" sz="1600" dirty="0" smtClean="0"/>
              <a:t>: </a:t>
            </a:r>
            <a:r>
              <a:rPr lang="es-ES" sz="1600" dirty="0" smtClean="0">
                <a:solidFill>
                  <a:srgbClr val="C00000"/>
                </a:solidFill>
              </a:rPr>
              <a:t>a nivel de elemento y a nivel de </a:t>
            </a:r>
            <a:r>
              <a:rPr lang="es-ES" sz="1600" dirty="0" err="1" smtClean="0">
                <a:solidFill>
                  <a:srgbClr val="C00000"/>
                </a:solidFill>
              </a:rPr>
              <a:t>array</a:t>
            </a:r>
            <a:r>
              <a:rPr lang="es-ES" sz="1600" dirty="0" smtClean="0"/>
              <a:t>.</a:t>
            </a:r>
          </a:p>
          <a:p>
            <a:pPr algn="just"/>
            <a:endParaRPr lang="es-ES" sz="1600" dirty="0"/>
          </a:p>
          <a:p>
            <a:pPr algn="just"/>
            <a:r>
              <a:rPr lang="es-ES" sz="1600" b="1" dirty="0" smtClean="0"/>
              <a:t>Ejemplo de producto a nivel de elemento: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929919"/>
            <a:ext cx="1018364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36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517524" y="1304219"/>
            <a:ext cx="9687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 smtClean="0"/>
              <a:t>Ejemplo de producto a nivel de </a:t>
            </a:r>
            <a:r>
              <a:rPr lang="es-ES" sz="1600" b="1" dirty="0" err="1" smtClean="0"/>
              <a:t>array</a:t>
            </a:r>
            <a:r>
              <a:rPr lang="es-ES" sz="1600" b="1" dirty="0" smtClean="0"/>
              <a:t>: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487" y="1710793"/>
            <a:ext cx="10315671" cy="4744871"/>
          </a:xfrm>
          <a:prstGeom prst="rect">
            <a:avLst/>
          </a:prstGeom>
        </p:spPr>
      </p:pic>
      <p:sp>
        <p:nvSpPr>
          <p:cNvPr id="15" name="Rectángulo 14"/>
          <p:cNvSpPr/>
          <p:nvPr/>
        </p:nvSpPr>
        <p:spPr>
          <a:xfrm>
            <a:off x="6586728" y="4323544"/>
            <a:ext cx="4651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Los operadores matemáticos +, -, *, /, %, ** se utilizan para la realizar suma, resta, producto, cociente, resto y potencia a nivel de elemento.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2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956256" y="1689774"/>
            <a:ext cx="74724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/>
              <a:t>Álgebra matricial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b="1" dirty="0" err="1"/>
              <a:t>Numpy</a:t>
            </a:r>
            <a:r>
              <a:rPr lang="es-ES" sz="2400" dirty="0"/>
              <a:t> incorpora funciones para realizar las principales operaciones algebraicas con vectores y matrices.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Por ejemplo, </a:t>
            </a:r>
            <a:r>
              <a:rPr lang="es-ES" sz="2400" dirty="0">
                <a:solidFill>
                  <a:srgbClr val="C00000"/>
                </a:solidFill>
              </a:rPr>
              <a:t>multiplicación entre matrices</a:t>
            </a:r>
            <a:r>
              <a:rPr lang="es-ES" sz="2400" dirty="0" smtClean="0"/>
              <a:t>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9627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502158" y="483481"/>
            <a:ext cx="92964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Álgebra matricial</a:t>
            </a:r>
          </a:p>
          <a:p>
            <a:pPr algn="just"/>
            <a:endParaRPr lang="es-ES" sz="2800" dirty="0"/>
          </a:p>
          <a:p>
            <a:pPr algn="just"/>
            <a:r>
              <a:rPr lang="es-ES" sz="2200" dirty="0" smtClean="0"/>
              <a:t>En </a:t>
            </a:r>
            <a:r>
              <a:rPr lang="es-ES" sz="2200" dirty="0"/>
              <a:t>la imagen, se devuelve el producto matricial de las matrices a y b siempre y cuando sus dimensiones sean compatibles</a:t>
            </a:r>
            <a:r>
              <a:rPr lang="es-ES" sz="2200" dirty="0" smtClean="0"/>
              <a:t>.</a:t>
            </a:r>
            <a:endParaRPr lang="es-ES" sz="2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573" y="2277807"/>
            <a:ext cx="7345233" cy="448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53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BE4A-AE0D-02C8-7767-E43568493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9B4BE-89F5-FF23-4710-53D428DF340E}"/>
              </a:ext>
            </a:extLst>
          </p:cNvPr>
          <p:cNvSpPr txBox="1">
            <a:spLocks/>
          </p:cNvSpPr>
          <p:nvPr/>
        </p:nvSpPr>
        <p:spPr>
          <a:xfrm>
            <a:off x="1116000" y="5302250"/>
            <a:ext cx="10134600" cy="10156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6600" dirty="0" smtClean="0"/>
              <a:t>EJERCICIOS</a:t>
            </a:r>
            <a:endParaRPr lang="es-CL" sz="66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BA5EF93-6150-3D4F-50E6-93ECD52582C6}"/>
              </a:ext>
            </a:extLst>
          </p:cNvPr>
          <p:cNvSpPr txBox="1">
            <a:spLocks/>
          </p:cNvSpPr>
          <p:nvPr/>
        </p:nvSpPr>
        <p:spPr>
          <a:xfrm>
            <a:off x="9292981" y="38249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  <a:endParaRPr lang="es-CL" sz="96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4198F3-A7D8-745D-D813-EE39FBF728CA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062B827-3696-8293-C831-D2D0D64B5658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C8F09B1F-15E3-0FAA-A08E-14CF08EC8C6F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6424361-7185-83C0-C690-18DA98BF0055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EC4E5981-5053-7505-CC9B-A5D6BC84F651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533315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302D-8516-70C0-480F-05836D35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8B2EF8-98A6-9F04-DD6F-2CB3694CCB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1834B-16C9-0E61-7EA8-03713A6F45D4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F7386BD-DFA6-C6B7-2970-D370E8D0C59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018D2BF-F474-BB6F-64DE-0C5C7F50C05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73F7EB3-2B70-19A7-C809-9D96ACADEBC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DB1F1-856D-CC4F-06F1-622FCDE68583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27B20704-6F60-588E-FEFB-7C42F6F465E3}"/>
              </a:ext>
            </a:extLst>
          </p:cNvPr>
          <p:cNvSpPr txBox="1">
            <a:spLocks/>
          </p:cNvSpPr>
          <p:nvPr/>
        </p:nvSpPr>
        <p:spPr>
          <a:xfrm>
            <a:off x="8132468" y="565555"/>
            <a:ext cx="3676650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</a:t>
            </a:r>
            <a:r>
              <a:rPr lang="es-CL" sz="3200" b="1" dirty="0" err="1" smtClean="0"/>
              <a:t>Numpy</a:t>
            </a:r>
            <a:endParaRPr lang="es-CL" sz="3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C6AD8-F25D-1EE1-5F36-ABD3E1E098CD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502158" y="483481"/>
            <a:ext cx="929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 smtClean="0"/>
              <a:t>EJERCICIOS</a:t>
            </a:r>
            <a:endParaRPr lang="es-ES" sz="2800" b="1" dirty="0"/>
          </a:p>
        </p:txBody>
      </p:sp>
      <p:sp>
        <p:nvSpPr>
          <p:cNvPr id="2" name="Rectángulo 1"/>
          <p:cNvSpPr/>
          <p:nvPr/>
        </p:nvSpPr>
        <p:spPr>
          <a:xfrm>
            <a:off x="1943100" y="2563117"/>
            <a:ext cx="93139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800" dirty="0" smtClean="0"/>
              <a:t>Pongamos en práctica lo aprendido:</a:t>
            </a:r>
          </a:p>
          <a:p>
            <a:pPr algn="just"/>
            <a:r>
              <a:rPr lang="es-ES" sz="2800" dirty="0" smtClean="0"/>
              <a:t>Desarrolla la guía </a:t>
            </a:r>
            <a:r>
              <a:rPr lang="es-ES" sz="2800" dirty="0"/>
              <a:t>llamada </a:t>
            </a:r>
            <a:endParaRPr lang="es-ES" sz="2800" dirty="0" smtClean="0"/>
          </a:p>
          <a:p>
            <a:pPr algn="just"/>
            <a:r>
              <a:rPr lang="es-ES" sz="2800" b="1" dirty="0" smtClean="0"/>
              <a:t>GUIA </a:t>
            </a:r>
            <a:r>
              <a:rPr lang="es-ES" sz="2800" b="1" dirty="0"/>
              <a:t>DE EJERCICIOS NUMPY.pdf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623109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919D-A82E-1FBD-E133-90CD36B4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D812D-6BC2-9B60-CD58-1BFC2BC8178D}"/>
              </a:ext>
            </a:extLst>
          </p:cNvPr>
          <p:cNvSpPr txBox="1">
            <a:spLocks/>
          </p:cNvSpPr>
          <p:nvPr/>
        </p:nvSpPr>
        <p:spPr>
          <a:xfrm>
            <a:off x="1116000" y="5302250"/>
            <a:ext cx="10134600" cy="10156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6600" dirty="0" smtClean="0"/>
              <a:t>PANDAS</a:t>
            </a:r>
            <a:endParaRPr lang="es-CL" sz="66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D5B257B-BEB9-0DDC-7014-0F4F80C9E015}"/>
              </a:ext>
            </a:extLst>
          </p:cNvPr>
          <p:cNvSpPr txBox="1">
            <a:spLocks/>
          </p:cNvSpPr>
          <p:nvPr/>
        </p:nvSpPr>
        <p:spPr>
          <a:xfrm>
            <a:off x="9292981" y="38249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  <a:endParaRPr lang="es-CL" sz="96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BD5269-9DDF-2173-B9AB-9CC1DD61F65E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E4C7249-E83F-30F1-DE90-A8DA531B878F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E4D2D9C-F312-136E-C3BC-46ABD363AAB7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46831-B979-E1B6-3215-29E05C5A9B87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37C2D2A-BB60-7388-C9CA-5F7FE32E6502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10035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D2F-C854-240B-A6F4-6CF80D67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13A82-CD04-37EC-6E9C-D5DB782B01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36BFDB-0486-037D-A6E9-E9A8B4675317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736481-B185-3AB0-F7CC-03762C757AF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E4546F4-5026-1F7A-FDBE-AFA1625C75DA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389728-BC94-8751-51B0-DAA2A589706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5A995-3A2D-3A85-84B8-2D11A6443E1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F8D8FA-FD9C-2725-F331-63A5F277F170}"/>
              </a:ext>
            </a:extLst>
          </p:cNvPr>
          <p:cNvSpPr/>
          <p:nvPr/>
        </p:nvSpPr>
        <p:spPr>
          <a:xfrm>
            <a:off x="-9524" y="68363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 txBox="1">
            <a:spLocks/>
          </p:cNvSpPr>
          <p:nvPr/>
        </p:nvSpPr>
        <p:spPr>
          <a:xfrm>
            <a:off x="304800" y="489605"/>
            <a:ext cx="414356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PANDAS</a:t>
            </a:r>
            <a:endParaRPr lang="es-CL" sz="32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771524" y="1821608"/>
            <a:ext cx="63150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una de las principales librerías de Python, que es un lenguaje de programación orientado a objetos de alto nivel muy popular entre los Data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Scientists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más utilizadas en este módulo son las </a:t>
            </a: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Series y los </a:t>
            </a:r>
            <a:r>
              <a:rPr lang="es-ES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DataFrames</a:t>
            </a: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F23EAA7-6BF5-14BD-F275-722BDE0D1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743" y="2407579"/>
            <a:ext cx="3945792" cy="159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7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D2F-C854-240B-A6F4-6CF80D67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13A82-CD04-37EC-6E9C-D5DB782B01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36BFDB-0486-037D-A6E9-E9A8B4675317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736481-B185-3AB0-F7CC-03762C757AF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E4546F4-5026-1F7A-FDBE-AFA1625C75DA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389728-BC94-8751-51B0-DAA2A589706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5A995-3A2D-3A85-84B8-2D11A6443E1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F8D8FA-FD9C-2725-F331-63A5F277F170}"/>
              </a:ext>
            </a:extLst>
          </p:cNvPr>
          <p:cNvSpPr/>
          <p:nvPr/>
        </p:nvSpPr>
        <p:spPr>
          <a:xfrm>
            <a:off x="-9524" y="68363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 txBox="1">
            <a:spLocks/>
          </p:cNvSpPr>
          <p:nvPr/>
        </p:nvSpPr>
        <p:spPr>
          <a:xfrm>
            <a:off x="304800" y="489605"/>
            <a:ext cx="414356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PANDAS</a:t>
            </a:r>
            <a:endParaRPr lang="es-CL" sz="32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956256" y="1883807"/>
            <a:ext cx="59151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 de las Series, que son objetos correspondientes a paneles </a:t>
            </a: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unidimensionales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los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DataFrames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paneles </a:t>
            </a: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bidimensionales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compuestos por filas y columnas, que permiten destacar las relaciones entre las distintas variables de la serie de datos.</a:t>
            </a:r>
            <a:endParaRPr lang="es-ES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F23EAA7-6BF5-14BD-F275-722BDE0D1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743" y="2407579"/>
            <a:ext cx="3945792" cy="159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07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D2F-C854-240B-A6F4-6CF80D67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13A82-CD04-37EC-6E9C-D5DB782B01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36BFDB-0486-037D-A6E9-E9A8B4675317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736481-B185-3AB0-F7CC-03762C757AF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E4546F4-5026-1F7A-FDBE-AFA1625C75DA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389728-BC94-8751-51B0-DAA2A589706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5A995-3A2D-3A85-84B8-2D11A6443E1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F8D8FA-FD9C-2725-F331-63A5F277F170}"/>
              </a:ext>
            </a:extLst>
          </p:cNvPr>
          <p:cNvSpPr/>
          <p:nvPr/>
        </p:nvSpPr>
        <p:spPr>
          <a:xfrm>
            <a:off x="-9524" y="68363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 txBox="1">
            <a:spLocks/>
          </p:cNvSpPr>
          <p:nvPr/>
        </p:nvSpPr>
        <p:spPr>
          <a:xfrm>
            <a:off x="304800" y="489605"/>
            <a:ext cx="414356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PANDAS</a:t>
            </a:r>
            <a:endParaRPr lang="es-CL" sz="32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666003" y="1754066"/>
            <a:ext cx="58423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El formato de estas estructuras puede compararse con los diccionarios de Python. Efectivamente, las claves son los nombres de las columnas y los valores son las Series. Su estructura puede considerarse similar a la de una hoja de cálculo de Excel.</a:t>
            </a:r>
            <a:endParaRPr lang="es-E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Cada fila contiene datos específicos de varias columnas, que son variables. El nombre de las filas de un </a:t>
            </a:r>
            <a:r>
              <a:rPr lang="es-ES" sz="20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DataFrame</a:t>
            </a: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se llama «</a:t>
            </a:r>
            <a:r>
              <a:rPr lang="es-ES" sz="20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index</a:t>
            </a: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» que, por defecto, empieza siempre por 0</a:t>
            </a:r>
            <a:r>
              <a:rPr lang="es-ES" sz="2000" dirty="0" smtClea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</a:t>
            </a:r>
            <a:endParaRPr lang="es-ES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211165C-CFE9-22B3-1854-F1BF08A4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084" y="1994977"/>
            <a:ext cx="5308665" cy="296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D2F-C854-240B-A6F4-6CF80D67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13A82-CD04-37EC-6E9C-D5DB782B01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36BFDB-0486-037D-A6E9-E9A8B4675317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736481-B185-3AB0-F7CC-03762C757AF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E4546F4-5026-1F7A-FDBE-AFA1625C75DA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389728-BC94-8751-51B0-DAA2A589706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5A995-3A2D-3A85-84B8-2D11A6443E1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F8D8FA-FD9C-2725-F331-63A5F277F170}"/>
              </a:ext>
            </a:extLst>
          </p:cNvPr>
          <p:cNvSpPr/>
          <p:nvPr/>
        </p:nvSpPr>
        <p:spPr>
          <a:xfrm>
            <a:off x="-9524" y="68363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 txBox="1">
            <a:spLocks/>
          </p:cNvSpPr>
          <p:nvPr/>
        </p:nvSpPr>
        <p:spPr>
          <a:xfrm>
            <a:off x="304800" y="489605"/>
            <a:ext cx="414356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PANDAS</a:t>
            </a:r>
            <a:endParaRPr lang="es-CL" sz="3200" b="1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211165C-CFE9-22B3-1854-F1BF08A4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084" y="1994977"/>
            <a:ext cx="5308665" cy="296698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555939" y="1514475"/>
            <a:ext cx="567004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Para importar una serie de datos, la librería Pandas propone un método muy práctico que es </a:t>
            </a:r>
            <a:r>
              <a:rPr lang="es-ES" sz="2000" dirty="0" err="1">
                <a:solidFill>
                  <a:srgbClr val="C00000"/>
                </a:solidFill>
                <a:latin typeface="Arial"/>
                <a:cs typeface="Arial"/>
                <a:sym typeface="Arial"/>
              </a:rPr>
              <a:t>pd.read_csv</a:t>
            </a:r>
            <a:r>
              <a:rPr lang="es-ES" sz="2000" dirty="0">
                <a:solidFill>
                  <a:srgbClr val="C00000"/>
                </a:solidFill>
                <a:latin typeface="Arial"/>
                <a:cs typeface="Arial"/>
                <a:sym typeface="Arial"/>
              </a:rPr>
              <a:t>(). </a:t>
            </a:r>
            <a:endParaRPr lang="es-ES" sz="200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Si el archivo que contiene la serie de datos está en otro formato que no sea el de </a:t>
            </a:r>
            <a:r>
              <a:rPr lang="es-ES" sz="20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Comma</a:t>
            </a: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ES" sz="20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Separated</a:t>
            </a: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Value, basta con cambiar la terminación del método por el tipo de archivo correcto. </a:t>
            </a:r>
            <a:endParaRPr lang="es-E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Por ejemplo, un archivo de Excel se importará de la siguiente manera: </a:t>
            </a:r>
            <a:r>
              <a:rPr lang="es-ES" sz="20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pd.read_excel</a:t>
            </a:r>
            <a:r>
              <a:rPr lang="es-E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(). Este método importa la serie de datos en una estructura </a:t>
            </a:r>
            <a:r>
              <a:rPr lang="es-ES" sz="20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DataFrame</a:t>
            </a:r>
            <a:r>
              <a:rPr lang="es-ES" sz="2000" dirty="0" smtClea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</a:t>
            </a:r>
            <a:endParaRPr lang="es-ES" sz="20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4248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D2F-C854-240B-A6F4-6CF80D67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13A82-CD04-37EC-6E9C-D5DB782B01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36BFDB-0486-037D-A6E9-E9A8B4675317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736481-B185-3AB0-F7CC-03762C757AF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E4546F4-5026-1F7A-FDBE-AFA1625C75DA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389728-BC94-8751-51B0-DAA2A589706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5A995-3A2D-3A85-84B8-2D11A6443E1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F8D8FA-FD9C-2725-F331-63A5F277F170}"/>
              </a:ext>
            </a:extLst>
          </p:cNvPr>
          <p:cNvSpPr/>
          <p:nvPr/>
        </p:nvSpPr>
        <p:spPr>
          <a:xfrm>
            <a:off x="-9524" y="68363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 txBox="1">
            <a:spLocks/>
          </p:cNvSpPr>
          <p:nvPr/>
        </p:nvSpPr>
        <p:spPr>
          <a:xfrm>
            <a:off x="304800" y="489605"/>
            <a:ext cx="414356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PANDAS</a:t>
            </a:r>
            <a:endParaRPr lang="es-CL" sz="3200" b="1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211165C-CFE9-22B3-1854-F1BF08A4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084" y="1994977"/>
            <a:ext cx="5308665" cy="296698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304800" y="2338861"/>
            <a:ext cx="61785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se importa la serie de datos, es necesario tener una visión general del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primer paso es utilizar el </a:t>
            </a:r>
            <a:r>
              <a:rPr lang="es-E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 </a:t>
            </a:r>
            <a:r>
              <a:rPr lang="es-ES" sz="20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shape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permite conocer la dimensión del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devolver una tupla (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número_de_filas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número_de_columnas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8959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D2F-C854-240B-A6F4-6CF80D67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13A82-CD04-37EC-6E9C-D5DB782B01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36BFDB-0486-037D-A6E9-E9A8B4675317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736481-B185-3AB0-F7CC-03762C757AF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E4546F4-5026-1F7A-FDBE-AFA1625C75DA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389728-BC94-8751-51B0-DAA2A589706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5A995-3A2D-3A85-84B8-2D11A6443E1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F8D8FA-FD9C-2725-F331-63A5F277F170}"/>
              </a:ext>
            </a:extLst>
          </p:cNvPr>
          <p:cNvSpPr/>
          <p:nvPr/>
        </p:nvSpPr>
        <p:spPr>
          <a:xfrm>
            <a:off x="-9524" y="68363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 txBox="1">
            <a:spLocks/>
          </p:cNvSpPr>
          <p:nvPr/>
        </p:nvSpPr>
        <p:spPr>
          <a:xfrm>
            <a:off x="304800" y="489605"/>
            <a:ext cx="414356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PANDAS</a:t>
            </a:r>
            <a:endParaRPr lang="es-CL" sz="3200" b="1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211165C-CFE9-22B3-1854-F1BF08A4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084" y="1994977"/>
            <a:ext cx="5308665" cy="296698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435534" y="2035294"/>
            <a:ext cx="57770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 la serie de datos, hay tres métodos muy útiles para ver las filas del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lang="es-ES" sz="2000" dirty="0"/>
          </a:p>
          <a:p>
            <a:pPr marL="0" marR="0" lvl="0" indent="-177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s-E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 </a:t>
            </a:r>
            <a:r>
              <a:rPr lang="es-ES" sz="2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head() 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devuelve las cinco primeras filas del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si no se especifica un número entre paréntesis.</a:t>
            </a:r>
            <a:endParaRPr lang="es-ES" sz="2000" dirty="0"/>
          </a:p>
          <a:p>
            <a:pPr marL="0" marR="0" lvl="0" indent="-177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otro lado, el </a:t>
            </a:r>
            <a:r>
              <a:rPr lang="es-E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 </a:t>
            </a:r>
            <a:r>
              <a:rPr lang="es-ES" sz="20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s-ES" sz="2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() 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visualizar las últimas cinco líneas del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dos métodos permiten visualizar el principio y el final de la serie de datos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574846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D2F-C854-240B-A6F4-6CF80D67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813A82-CD04-37EC-6E9C-D5DB782B01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36BFDB-0486-037D-A6E9-E9A8B4675317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736481-B185-3AB0-F7CC-03762C757AF6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E4546F4-5026-1F7A-FDBE-AFA1625C75DA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389728-BC94-8751-51B0-DAA2A589706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5E5A995-3A2D-3A85-84B8-2D11A6443E1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F8D8FA-FD9C-2725-F331-63A5F277F170}"/>
              </a:ext>
            </a:extLst>
          </p:cNvPr>
          <p:cNvSpPr/>
          <p:nvPr/>
        </p:nvSpPr>
        <p:spPr>
          <a:xfrm>
            <a:off x="-9524" y="68363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 txBox="1">
            <a:spLocks/>
          </p:cNvSpPr>
          <p:nvPr/>
        </p:nvSpPr>
        <p:spPr>
          <a:xfrm>
            <a:off x="304800" y="489605"/>
            <a:ext cx="414356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 smtClean="0"/>
              <a:t>Librería PANDAS</a:t>
            </a:r>
            <a:endParaRPr lang="es-CL" sz="3200" b="1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211165C-CFE9-22B3-1854-F1BF08A4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084" y="1994977"/>
            <a:ext cx="5308665" cy="296698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771525" y="1699141"/>
            <a:ext cx="490107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el </a:t>
            </a:r>
            <a:r>
              <a:rPr lang="es-E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tiene diez variables diferentes, se puede saber cuáles son sus nombres utilizando el </a:t>
            </a:r>
            <a:r>
              <a:rPr lang="es-E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 </a:t>
            </a:r>
            <a:r>
              <a:rPr lang="es-ES" sz="20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df.columns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Pero cuando la serie de datos tiene ochocientas columnas, la visualización de los nombres de las variables no será completa.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resolver este problema, se puede utilizar el método</a:t>
            </a:r>
            <a:r>
              <a:rPr lang="es-E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s-ES" sz="20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df.columns.toList</a:t>
            </a:r>
            <a:r>
              <a:rPr lang="es-ES" sz="2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(), 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permite almacenar los nombres de las columnas en una lista de </a:t>
            </a:r>
            <a:r>
              <a:rPr lang="es-ES" sz="20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Python</a:t>
            </a:r>
            <a:r>
              <a:rPr lang="es-E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739853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BE4A-AE0D-02C8-7767-E43568493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9B4BE-89F5-FF23-4710-53D428DF340E}"/>
              </a:ext>
            </a:extLst>
          </p:cNvPr>
          <p:cNvSpPr txBox="1">
            <a:spLocks/>
          </p:cNvSpPr>
          <p:nvPr/>
        </p:nvSpPr>
        <p:spPr>
          <a:xfrm>
            <a:off x="1116000" y="5302250"/>
            <a:ext cx="10134600" cy="10156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BA5EF93-6150-3D4F-50E6-93ECD52582C6}"/>
              </a:ext>
            </a:extLst>
          </p:cNvPr>
          <p:cNvSpPr txBox="1">
            <a:spLocks/>
          </p:cNvSpPr>
          <p:nvPr/>
        </p:nvSpPr>
        <p:spPr>
          <a:xfrm>
            <a:off x="9292981" y="38249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smtClean="0">
                <a:latin typeface="Arial Black" panose="020B0604020202020204" pitchFamily="34" charset="0"/>
                <a:cs typeface="Arial Black" panose="020B0604020202020204" pitchFamily="34" charset="0"/>
              </a:rPr>
              <a:t>05</a:t>
            </a:r>
            <a:endParaRPr lang="es-CL" sz="96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4198F3-A7D8-745D-D813-EE39FBF728CA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062B827-3696-8293-C831-D2D0D64B5658}"/>
              </a:ext>
            </a:extLst>
          </p:cNvPr>
          <p:cNvGrpSpPr/>
          <p:nvPr/>
        </p:nvGrpSpPr>
        <p:grpSpPr>
          <a:xfrm>
            <a:off x="0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C8F09B1F-15E3-0FAA-A08E-14CF08EC8C6F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6424361-7185-83C0-C690-18DA98BF0055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EC4E5981-5053-7505-CC9B-A5D6BC84F651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121263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5550-9038-7CE6-E7C7-9E383FEE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F6F7E9-D5A6-4CE5-D266-84E8B4320DB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012418"/>
            <a:ext cx="1638300" cy="610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6585C55-9DF5-79BE-FD66-7178469C3C46}"/>
              </a:ext>
            </a:extLst>
          </p:cNvPr>
          <p:cNvSpPr txBox="1"/>
          <p:nvPr/>
        </p:nvSpPr>
        <p:spPr>
          <a:xfrm>
            <a:off x="771525" y="1514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18F3060-D38D-55D7-9CC9-268816253BE2}"/>
              </a:ext>
            </a:extLst>
          </p:cNvPr>
          <p:cNvGrpSpPr/>
          <p:nvPr/>
        </p:nvGrpSpPr>
        <p:grpSpPr>
          <a:xfrm>
            <a:off x="1840936" y="0"/>
            <a:ext cx="10351064" cy="18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DBB2383E-14CA-073A-6733-6473F2FB9A02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F2B606CC-B6A1-CFD9-AEB2-CD5C55E0562D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64CADBC-5527-8B40-5EFA-8DEA12641DD4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7EE20B0-227A-0C24-551E-A8B638BB6615}"/>
              </a:ext>
            </a:extLst>
          </p:cNvPr>
          <p:cNvSpPr txBox="1"/>
          <p:nvPr/>
        </p:nvSpPr>
        <p:spPr>
          <a:xfrm>
            <a:off x="1308100" y="2092325"/>
            <a:ext cx="42640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endParaRPr lang="es-CL" sz="20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D925CB0-E6FE-73CF-014D-ECCC9BFEED0D}"/>
              </a:ext>
            </a:extLst>
          </p:cNvPr>
          <p:cNvSpPr txBox="1">
            <a:spLocks/>
          </p:cNvSpPr>
          <p:nvPr/>
        </p:nvSpPr>
        <p:spPr>
          <a:xfrm>
            <a:off x="9793044" y="565555"/>
            <a:ext cx="2103682" cy="7386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/>
              <a:t>RESUMEN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446CAFD-2939-6BF9-7813-E4FDEA8F7FB0}"/>
              </a:ext>
            </a:extLst>
          </p:cNvPr>
          <p:cNvSpPr/>
          <p:nvPr/>
        </p:nvSpPr>
        <p:spPr>
          <a:xfrm>
            <a:off x="11816102" y="759588"/>
            <a:ext cx="390525" cy="5446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0248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1248</Words>
  <Application>Microsoft Office PowerPoint</Application>
  <PresentationFormat>Panorámica</PresentationFormat>
  <Paragraphs>139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Arial Black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Pablo Silva</dc:creator>
  <cp:lastModifiedBy>Silva Mancilla, Pablo Cesar</cp:lastModifiedBy>
  <cp:revision>30</cp:revision>
  <dcterms:created xsi:type="dcterms:W3CDTF">2026-03-20T20:35:02Z</dcterms:created>
  <dcterms:modified xsi:type="dcterms:W3CDTF">2026-04-17T23:10:11Z</dcterms:modified>
</cp:coreProperties>
</file>